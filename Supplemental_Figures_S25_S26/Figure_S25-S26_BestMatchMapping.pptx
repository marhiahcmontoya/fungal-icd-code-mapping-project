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Lst>
  <p:sldSz cx="6858000" cy="9144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94660"/>
  </p:normalViewPr>
  <p:slideViewPr>
    <p:cSldViewPr snapToGrid="0">
      <p:cViewPr>
        <p:scale>
          <a:sx n="98" d="100"/>
          <a:sy n="98" d="100"/>
        </p:scale>
        <p:origin x="260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B90617-AC8A-4872-BCF7-24F7757BDAC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1176900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B90617-AC8A-4872-BCF7-24F7757BDAC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4104727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B90617-AC8A-4872-BCF7-24F7757BDAC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177046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B90617-AC8A-4872-BCF7-24F7757BDAC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3399711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B90617-AC8A-4872-BCF7-24F7757BDAC2}"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3255826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B90617-AC8A-4872-BCF7-24F7757BDAC2}"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2262510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B90617-AC8A-4872-BCF7-24F7757BDAC2}"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663856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4B90617-AC8A-4872-BCF7-24F7757BDAC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1658460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4B90617-AC8A-4872-BCF7-24F7757BDAC2}"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313867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B90617-AC8A-4872-BCF7-24F7757BDAC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3122622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B90617-AC8A-4872-BCF7-24F7757BDAC2}"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B8243-A300-4C86-BF0A-F45DA3F747F9}" type="slidenum">
              <a:rPr lang="en-US" smtClean="0"/>
              <a:t>‹#›</a:t>
            </a:fld>
            <a:endParaRPr lang="en-US"/>
          </a:p>
        </p:txBody>
      </p:sp>
    </p:spTree>
    <p:extLst>
      <p:ext uri="{BB962C8B-B14F-4D97-AF65-F5344CB8AC3E}">
        <p14:creationId xmlns:p14="http://schemas.microsoft.com/office/powerpoint/2010/main" val="304363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64B90617-AC8A-4872-BCF7-24F7757BDAC2}" type="datetimeFigureOut">
              <a:rPr lang="en-US" smtClean="0"/>
              <a:t>3/25/2026</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78EB8243-A300-4C86-BF0A-F45DA3F747F9}" type="slidenum">
              <a:rPr lang="en-US" smtClean="0"/>
              <a:t>‹#›</a:t>
            </a:fld>
            <a:endParaRPr lang="en-US"/>
          </a:p>
        </p:txBody>
      </p:sp>
    </p:spTree>
    <p:extLst>
      <p:ext uri="{BB962C8B-B14F-4D97-AF65-F5344CB8AC3E}">
        <p14:creationId xmlns:p14="http://schemas.microsoft.com/office/powerpoint/2010/main" val="12658616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marhiahcmontoya/Fungal-ICD-Code-Mapping-Project/tree/ad2b8649621393e2f044cda209a95f35e61cb597/Supplemental_Figures_S25_S26"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marhiahcmontoya/Fungal-ICD-Code-Mapping-Project/tree/ad2b8649621393e2f044cda209a95f35e61cb597/Supplemental_Figures_S25_S26"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A9F771F-2824-5894-3CB5-E9EC657F18D4}"/>
              </a:ext>
            </a:extLst>
          </p:cNvPr>
          <p:cNvPicPr>
            <a:picLocks noChangeAspect="1"/>
          </p:cNvPicPr>
          <p:nvPr/>
        </p:nvPicPr>
        <p:blipFill>
          <a:blip r:embed="rId2">
            <a:extLst>
              <a:ext uri="{28A0092B-C50C-407E-A947-70E740481C1C}">
                <a14:useLocalDpi xmlns:a14="http://schemas.microsoft.com/office/drawing/2010/main" val="0"/>
              </a:ext>
            </a:extLst>
          </a:blip>
          <a:srcRect l="6142" t="4534" r="13932" b="4055"/>
          <a:stretch>
            <a:fillRect/>
          </a:stretch>
        </p:blipFill>
        <p:spPr>
          <a:xfrm>
            <a:off x="100476" y="549894"/>
            <a:ext cx="6647427" cy="4344373"/>
          </a:xfrm>
          <a:prstGeom prst="rect">
            <a:avLst/>
          </a:prstGeom>
        </p:spPr>
      </p:pic>
      <p:grpSp>
        <p:nvGrpSpPr>
          <p:cNvPr id="21" name="Group 20">
            <a:extLst>
              <a:ext uri="{FF2B5EF4-FFF2-40B4-BE49-F238E27FC236}">
                <a16:creationId xmlns:a16="http://schemas.microsoft.com/office/drawing/2014/main" id="{B78C305C-A99A-BE7F-887D-501E042137B5}"/>
              </a:ext>
            </a:extLst>
          </p:cNvPr>
          <p:cNvGrpSpPr/>
          <p:nvPr/>
        </p:nvGrpSpPr>
        <p:grpSpPr>
          <a:xfrm>
            <a:off x="0" y="18396"/>
            <a:ext cx="6022895" cy="531498"/>
            <a:chOff x="8991" y="-159873"/>
            <a:chExt cx="6022895" cy="531498"/>
          </a:xfrm>
        </p:grpSpPr>
        <p:sp>
          <p:nvSpPr>
            <p:cNvPr id="16" name="TextBox 15">
              <a:extLst>
                <a:ext uri="{FF2B5EF4-FFF2-40B4-BE49-F238E27FC236}">
                  <a16:creationId xmlns:a16="http://schemas.microsoft.com/office/drawing/2014/main" id="{F3659B72-1FE7-C330-5D44-739F234FA426}"/>
                </a:ext>
              </a:extLst>
            </p:cNvPr>
            <p:cNvSpPr txBox="1"/>
            <p:nvPr/>
          </p:nvSpPr>
          <p:spPr>
            <a:xfrm>
              <a:off x="1556531" y="-159873"/>
              <a:ext cx="3735318"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Fungal Disease Codes by ICD Version – Forward Matching</a:t>
              </a:r>
            </a:p>
          </p:txBody>
        </p:sp>
        <p:sp>
          <p:nvSpPr>
            <p:cNvPr id="17" name="TextBox 16">
              <a:extLst>
                <a:ext uri="{FF2B5EF4-FFF2-40B4-BE49-F238E27FC236}">
                  <a16:creationId xmlns:a16="http://schemas.microsoft.com/office/drawing/2014/main" id="{67E4D4A2-DB94-0B31-A0A8-5DB4F7EBE6F3}"/>
                </a:ext>
              </a:extLst>
            </p:cNvPr>
            <p:cNvSpPr txBox="1"/>
            <p:nvPr/>
          </p:nvSpPr>
          <p:spPr>
            <a:xfrm>
              <a:off x="8991" y="125404"/>
              <a:ext cx="519694"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ICD-9</a:t>
              </a:r>
            </a:p>
          </p:txBody>
        </p:sp>
        <p:sp>
          <p:nvSpPr>
            <p:cNvPr id="18" name="TextBox 17">
              <a:extLst>
                <a:ext uri="{FF2B5EF4-FFF2-40B4-BE49-F238E27FC236}">
                  <a16:creationId xmlns:a16="http://schemas.microsoft.com/office/drawing/2014/main" id="{984F7101-1611-57B8-5F4D-AA6D01BBF11D}"/>
                </a:ext>
              </a:extLst>
            </p:cNvPr>
            <p:cNvSpPr txBox="1"/>
            <p:nvPr/>
          </p:nvSpPr>
          <p:spPr>
            <a:xfrm>
              <a:off x="2745253" y="125404"/>
              <a:ext cx="590226"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ICD-10</a:t>
              </a:r>
            </a:p>
          </p:txBody>
        </p:sp>
        <p:sp>
          <p:nvSpPr>
            <p:cNvPr id="19" name="TextBox 18">
              <a:extLst>
                <a:ext uri="{FF2B5EF4-FFF2-40B4-BE49-F238E27FC236}">
                  <a16:creationId xmlns:a16="http://schemas.microsoft.com/office/drawing/2014/main" id="{7F03C1DF-349C-BA03-761C-9CD828DD4B9F}"/>
                </a:ext>
              </a:extLst>
            </p:cNvPr>
            <p:cNvSpPr txBox="1"/>
            <p:nvPr/>
          </p:nvSpPr>
          <p:spPr>
            <a:xfrm>
              <a:off x="5441660" y="125404"/>
              <a:ext cx="590226"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ICD-11</a:t>
              </a:r>
            </a:p>
          </p:txBody>
        </p:sp>
      </p:grpSp>
      <p:sp>
        <p:nvSpPr>
          <p:cNvPr id="28" name="TextBox 27">
            <a:extLst>
              <a:ext uri="{FF2B5EF4-FFF2-40B4-BE49-F238E27FC236}">
                <a16:creationId xmlns:a16="http://schemas.microsoft.com/office/drawing/2014/main" id="{1561B5D2-27EF-09EB-2658-48EEC6400C11}"/>
              </a:ext>
            </a:extLst>
          </p:cNvPr>
          <p:cNvSpPr txBox="1"/>
          <p:nvPr/>
        </p:nvSpPr>
        <p:spPr>
          <a:xfrm>
            <a:off x="100475" y="5031753"/>
            <a:ext cx="6647427" cy="2554545"/>
          </a:xfrm>
          <a:prstGeom prst="rect">
            <a:avLst/>
          </a:prstGeom>
          <a:noFill/>
        </p:spPr>
        <p:txBody>
          <a:bodyPr wrap="square">
            <a:spAutoFit/>
          </a:bodyPr>
          <a:lstStyle/>
          <a:p>
            <a:r>
              <a:rPr lang="en-US" sz="1000" b="1" dirty="0">
                <a:latin typeface="Arial" panose="020B0604020202020204" pitchFamily="34" charset="0"/>
                <a:cs typeface="Arial" panose="020B0604020202020204" pitchFamily="34" charset="0"/>
              </a:rPr>
              <a:t>Supplemental Figure 25. Summary ICD Code Mapping: Best Match Forward Summary Sankey Network</a:t>
            </a:r>
          </a:p>
          <a:p>
            <a:r>
              <a:rPr lang="en-US" sz="1000" dirty="0">
                <a:latin typeface="Arial" panose="020B0604020202020204" pitchFamily="34" charset="0"/>
                <a:cs typeface="Arial" panose="020B0604020202020204" pitchFamily="34" charset="0"/>
              </a:rPr>
              <a:t>Nodes represent individual Major Fungal Groups across versions (ICD-9, -10, -11), connected by links indicating mapping pairs with the highest match score, with ties. Primary mapping utilized a stepwise strategy requiring a minimum cumulative match score of 45 out of 100 points. To capture complex relationships, a “skip-link” strategy was employed for pairs that either failed the initial threshold or exceed the stepwise score by ≥ 10 points. Codes with unlinked nodes (“Orphan” codes) represent version-specific entries that did not meet the minimum match criteria in either strategy and are indicated by a pink node with text indicating the ICD version(s) to which codes are </a:t>
            </a:r>
            <a:r>
              <a:rPr lang="en-US" sz="1000" dirty="0" err="1">
                <a:latin typeface="Arial" panose="020B0604020202020204" pitchFamily="34" charset="0"/>
                <a:cs typeface="Arial" panose="020B0604020202020204" pitchFamily="34" charset="0"/>
              </a:rPr>
              <a:t>unique.Summary</a:t>
            </a:r>
            <a:r>
              <a:rPr lang="en-US" sz="1000" dirty="0">
                <a:latin typeface="Arial" panose="020B0604020202020204" pitchFamily="34" charset="0"/>
                <a:cs typeface="Arial" panose="020B0604020202020204" pitchFamily="34" charset="0"/>
              </a:rPr>
              <a:t> Sankey Network visualizing the overall changes in mycoses representation by the twelve major fungal groups where each node column represents a different ICD version, node represents each unique major fungal group, and each link represents one fungal code match pair. Codes that were unique to ICD-9 included 14 codes from Histoplasma only. Codes that were unique to ICD-10 came from every major fungal group except Dermatomycoses and Paracoccidioides. In addition, the “unique to ICD-10” node contains four codes that had continuity between ICD-9 and ICD-10 but were eliminated in ICD-11 (Figure S1- S24). </a:t>
            </a:r>
          </a:p>
          <a:p>
            <a:endParaRPr lang="en-US" sz="1000" dirty="0">
              <a:latin typeface="Arial" panose="020B0604020202020204" pitchFamily="34" charset="0"/>
              <a:cs typeface="Arial" panose="020B0604020202020204" pitchFamily="34" charset="0"/>
            </a:endParaRPr>
          </a:p>
          <a:p>
            <a:r>
              <a:rPr lang="en-US" sz="1000" dirty="0">
                <a:latin typeface="Arial" panose="020B0604020202020204" pitchFamily="34" charset="0"/>
                <a:cs typeface="Arial" panose="020B0604020202020204" pitchFamily="34" charset="0"/>
              </a:rPr>
              <a:t>Movable copy of this figure can be found at </a:t>
            </a:r>
            <a:r>
              <a:rPr lang="en-US" sz="1000" dirty="0">
                <a:latin typeface="Arial" panose="020B0604020202020204" pitchFamily="34" charset="0"/>
                <a:cs typeface="Arial" panose="020B0604020202020204" pitchFamily="34" charset="0"/>
                <a:hlinkClick r:id="rId3"/>
              </a:rPr>
              <a:t>https://github.com/marhiahcmontoya/Fungal-ICD-Code-Mapping-Project/tree/ad2b8649621393e2f044cda209a95f35e61cb597/Supplemental_Figures_S25_S26</a:t>
            </a:r>
            <a:endParaRPr lang="en-US" sz="1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7129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6CDA9-1129-1253-CBD5-8EDF7B37E021}"/>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4E2FFACA-1ECB-4D59-A831-433EB1EDA8B6}"/>
              </a:ext>
            </a:extLst>
          </p:cNvPr>
          <p:cNvPicPr>
            <a:picLocks noChangeAspect="1"/>
          </p:cNvPicPr>
          <p:nvPr/>
        </p:nvPicPr>
        <p:blipFill>
          <a:blip r:embed="rId2">
            <a:extLst>
              <a:ext uri="{28A0092B-C50C-407E-A947-70E740481C1C}">
                <a14:useLocalDpi xmlns:a14="http://schemas.microsoft.com/office/drawing/2010/main" val="0"/>
              </a:ext>
            </a:extLst>
          </a:blip>
          <a:srcRect l="6067" t="4744" r="14007" b="4565"/>
          <a:stretch>
            <a:fillRect/>
          </a:stretch>
        </p:blipFill>
        <p:spPr>
          <a:xfrm>
            <a:off x="100477" y="682910"/>
            <a:ext cx="6647427" cy="4310084"/>
          </a:xfrm>
          <a:prstGeom prst="rect">
            <a:avLst/>
          </a:prstGeom>
        </p:spPr>
      </p:pic>
      <p:grpSp>
        <p:nvGrpSpPr>
          <p:cNvPr id="2" name="Group 1">
            <a:extLst>
              <a:ext uri="{FF2B5EF4-FFF2-40B4-BE49-F238E27FC236}">
                <a16:creationId xmlns:a16="http://schemas.microsoft.com/office/drawing/2014/main" id="{895302D1-EDCE-0A8C-929A-586428DBDB21}"/>
              </a:ext>
            </a:extLst>
          </p:cNvPr>
          <p:cNvGrpSpPr/>
          <p:nvPr/>
        </p:nvGrpSpPr>
        <p:grpSpPr>
          <a:xfrm>
            <a:off x="0" y="18396"/>
            <a:ext cx="6027484" cy="531498"/>
            <a:chOff x="8991" y="-159873"/>
            <a:chExt cx="6027484" cy="531498"/>
          </a:xfrm>
        </p:grpSpPr>
        <p:sp>
          <p:nvSpPr>
            <p:cNvPr id="3" name="TextBox 2">
              <a:extLst>
                <a:ext uri="{FF2B5EF4-FFF2-40B4-BE49-F238E27FC236}">
                  <a16:creationId xmlns:a16="http://schemas.microsoft.com/office/drawing/2014/main" id="{B4885287-1840-6F8C-8C9A-8CB6814C896D}"/>
                </a:ext>
              </a:extLst>
            </p:cNvPr>
            <p:cNvSpPr txBox="1"/>
            <p:nvPr/>
          </p:nvSpPr>
          <p:spPr>
            <a:xfrm>
              <a:off x="1561341" y="-159873"/>
              <a:ext cx="3725700"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Fungal Disease Codes by ICD Version – Reverse Matching</a:t>
              </a:r>
            </a:p>
          </p:txBody>
        </p:sp>
        <p:sp>
          <p:nvSpPr>
            <p:cNvPr id="4" name="TextBox 3">
              <a:extLst>
                <a:ext uri="{FF2B5EF4-FFF2-40B4-BE49-F238E27FC236}">
                  <a16:creationId xmlns:a16="http://schemas.microsoft.com/office/drawing/2014/main" id="{EBD713F5-47F1-DC0F-43C9-57C6ECA8531F}"/>
                </a:ext>
              </a:extLst>
            </p:cNvPr>
            <p:cNvSpPr txBox="1"/>
            <p:nvPr/>
          </p:nvSpPr>
          <p:spPr>
            <a:xfrm>
              <a:off x="8991" y="125404"/>
              <a:ext cx="590226"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ICD-11</a:t>
              </a:r>
            </a:p>
          </p:txBody>
        </p:sp>
        <p:sp>
          <p:nvSpPr>
            <p:cNvPr id="5" name="TextBox 4">
              <a:extLst>
                <a:ext uri="{FF2B5EF4-FFF2-40B4-BE49-F238E27FC236}">
                  <a16:creationId xmlns:a16="http://schemas.microsoft.com/office/drawing/2014/main" id="{0B43AE25-28FE-C66E-7F4D-8E3AD4B2592F}"/>
                </a:ext>
              </a:extLst>
            </p:cNvPr>
            <p:cNvSpPr txBox="1"/>
            <p:nvPr/>
          </p:nvSpPr>
          <p:spPr>
            <a:xfrm>
              <a:off x="2745253" y="125404"/>
              <a:ext cx="590226"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ICD-10</a:t>
              </a:r>
            </a:p>
          </p:txBody>
        </p:sp>
        <p:sp>
          <p:nvSpPr>
            <p:cNvPr id="6" name="TextBox 5">
              <a:extLst>
                <a:ext uri="{FF2B5EF4-FFF2-40B4-BE49-F238E27FC236}">
                  <a16:creationId xmlns:a16="http://schemas.microsoft.com/office/drawing/2014/main" id="{9278AA46-6EB1-FA60-B65A-01866661B62C}"/>
                </a:ext>
              </a:extLst>
            </p:cNvPr>
            <p:cNvSpPr txBox="1"/>
            <p:nvPr/>
          </p:nvSpPr>
          <p:spPr>
            <a:xfrm>
              <a:off x="5516781" y="125404"/>
              <a:ext cx="519694" cy="246221"/>
            </a:xfrm>
            <a:prstGeom prst="rect">
              <a:avLst/>
            </a:prstGeom>
            <a:noFill/>
          </p:spPr>
          <p:txBody>
            <a:bodyPr wrap="none" rtlCol="0">
              <a:spAutoFit/>
            </a:bodyPr>
            <a:lstStyle/>
            <a:p>
              <a:pPr algn="ctr" defTabSz="192881"/>
              <a:r>
                <a:rPr lang="en-US" sz="1000" b="1" dirty="0">
                  <a:solidFill>
                    <a:prstClr val="black"/>
                  </a:solidFill>
                  <a:latin typeface="Arial" panose="020B0604020202020204" pitchFamily="34" charset="0"/>
                  <a:cs typeface="Arial" panose="020B0604020202020204" pitchFamily="34" charset="0"/>
                </a:rPr>
                <a:t>ICD-9</a:t>
              </a:r>
            </a:p>
          </p:txBody>
        </p:sp>
      </p:grpSp>
      <p:sp>
        <p:nvSpPr>
          <p:cNvPr id="7" name="TextBox 6">
            <a:extLst>
              <a:ext uri="{FF2B5EF4-FFF2-40B4-BE49-F238E27FC236}">
                <a16:creationId xmlns:a16="http://schemas.microsoft.com/office/drawing/2014/main" id="{AB39447B-A930-C320-67E9-6A523D144302}"/>
              </a:ext>
            </a:extLst>
          </p:cNvPr>
          <p:cNvSpPr txBox="1"/>
          <p:nvPr/>
        </p:nvSpPr>
        <p:spPr>
          <a:xfrm>
            <a:off x="100475" y="5031753"/>
            <a:ext cx="6647427" cy="2092881"/>
          </a:xfrm>
          <a:prstGeom prst="rect">
            <a:avLst/>
          </a:prstGeom>
          <a:noFill/>
        </p:spPr>
        <p:txBody>
          <a:bodyPr wrap="square">
            <a:spAutoFit/>
          </a:bodyPr>
          <a:lstStyle/>
          <a:p>
            <a:r>
              <a:rPr lang="en-US" sz="1000" b="1" dirty="0">
                <a:latin typeface="Arial" panose="020B0604020202020204" pitchFamily="34" charset="0"/>
                <a:cs typeface="Arial" panose="020B0604020202020204" pitchFamily="34" charset="0"/>
              </a:rPr>
              <a:t>Supplemental Figure 26. Summary ICD Code Mapping: Best Match Reverse Summary Sankey Network</a:t>
            </a:r>
          </a:p>
          <a:p>
            <a:r>
              <a:rPr lang="en-US" sz="1000" dirty="0">
                <a:latin typeface="Arial" panose="020B0604020202020204" pitchFamily="34" charset="0"/>
                <a:cs typeface="Arial" panose="020B0604020202020204" pitchFamily="34" charset="0"/>
              </a:rPr>
              <a:t>Nodes represent individual Major Fungal Groups across versions (ICD-11, -10, -9), connected by links indicating mapping pairs with the highest match score, with ties. Primary mapping utilized a stepwise strategy requiring a minimum cumulative match score of 45 out of 100 points. To capture complex relationships, a “skip-link” strategy was employed for pairs that either failed the initial threshold or exceed the stepwise score by ≥ 10 points. Codes with unlinked nodes (“Orphan” codes) represent version-specific entries that did not meet the minimum match criteria in either strategy and are indicated by a pink node with text indicating the ICD version(s) to which codes are unique. Summary Sankey Network visualizing the overall changes in mycoses representation by the twelve major fungal groups where each node column represents a different ICD version, node represents each unique major fungal group, and each link represents one fungal code match pair. </a:t>
            </a:r>
          </a:p>
          <a:p>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Movable copy of this figure can be found at </a:t>
            </a:r>
            <a:r>
              <a:rPr lang="en-US" sz="1000" dirty="0">
                <a:latin typeface="Arial" panose="020B0604020202020204" pitchFamily="34" charset="0"/>
                <a:cs typeface="Arial" panose="020B0604020202020204" pitchFamily="34" charset="0"/>
                <a:hlinkClick r:id="rId3"/>
              </a:rPr>
              <a:t>https://github.com/marhiahcmontoya/Fungal-ICD-Code-Mapping-Project/tree/ad2b8649621393e2f044cda209a95f35e61cb597/Supplemental_Figures_S25_S26</a:t>
            </a:r>
            <a:r>
              <a:rPr lang="en-US" sz="10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9879496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62</TotalTime>
  <Words>515</Words>
  <Application>Microsoft Office PowerPoint</Application>
  <PresentationFormat>Letter Paper (8.5x11 in)</PresentationFormat>
  <Paragraphs>15</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Montoya, Marhiah</dc:creator>
  <cp:lastModifiedBy>Montoya, Marhiah</cp:lastModifiedBy>
  <cp:revision>3</cp:revision>
  <dcterms:created xsi:type="dcterms:W3CDTF">2026-03-25T20:46:34Z</dcterms:created>
  <dcterms:modified xsi:type="dcterms:W3CDTF">2026-03-25T21:49:08Z</dcterms:modified>
</cp:coreProperties>
</file>