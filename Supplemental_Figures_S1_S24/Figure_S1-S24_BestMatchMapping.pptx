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84" r:id="rId1"/>
  </p:sldMasterIdLst>
  <p:sldIdLst>
    <p:sldId id="257" r:id="rId2"/>
    <p:sldId id="258" r:id="rId3"/>
    <p:sldId id="269" r:id="rId4"/>
    <p:sldId id="270" r:id="rId5"/>
    <p:sldId id="260" r:id="rId6"/>
    <p:sldId id="263" r:id="rId7"/>
    <p:sldId id="262" r:id="rId8"/>
    <p:sldId id="261" r:id="rId9"/>
    <p:sldId id="264" r:id="rId10"/>
    <p:sldId id="265" r:id="rId11"/>
    <p:sldId id="266" r:id="rId12"/>
    <p:sldId id="267" r:id="rId13"/>
    <p:sldId id="272" r:id="rId14"/>
    <p:sldId id="268" r:id="rId15"/>
    <p:sldId id="273" r:id="rId16"/>
  </p:sldIdLst>
  <p:sldSz cx="10058400" cy="7772400"/>
  <p:notesSz cx="9144000" cy="6858000"/>
  <p:defaultTextStyle>
    <a:defPPr>
      <a:defRPr lang="en-US"/>
    </a:defPPr>
    <a:lvl1pPr marL="0" algn="l" defTabSz="457146" rtl="0" eaLnBrk="1" latinLnBrk="0" hangingPunct="1">
      <a:defRPr sz="1799" kern="1200">
        <a:solidFill>
          <a:schemeClr val="tx1"/>
        </a:solidFill>
        <a:latin typeface="+mn-lt"/>
        <a:ea typeface="+mn-ea"/>
        <a:cs typeface="+mn-cs"/>
      </a:defRPr>
    </a:lvl1pPr>
    <a:lvl2pPr marL="457146" algn="l" defTabSz="457146" rtl="0" eaLnBrk="1" latinLnBrk="0" hangingPunct="1">
      <a:defRPr sz="1799" kern="1200">
        <a:solidFill>
          <a:schemeClr val="tx1"/>
        </a:solidFill>
        <a:latin typeface="+mn-lt"/>
        <a:ea typeface="+mn-ea"/>
        <a:cs typeface="+mn-cs"/>
      </a:defRPr>
    </a:lvl2pPr>
    <a:lvl3pPr marL="914294" algn="l" defTabSz="457146" rtl="0" eaLnBrk="1" latinLnBrk="0" hangingPunct="1">
      <a:defRPr sz="1799" kern="1200">
        <a:solidFill>
          <a:schemeClr val="tx1"/>
        </a:solidFill>
        <a:latin typeface="+mn-lt"/>
        <a:ea typeface="+mn-ea"/>
        <a:cs typeface="+mn-cs"/>
      </a:defRPr>
    </a:lvl3pPr>
    <a:lvl4pPr marL="1371440" algn="l" defTabSz="457146" rtl="0" eaLnBrk="1" latinLnBrk="0" hangingPunct="1">
      <a:defRPr sz="1799" kern="1200">
        <a:solidFill>
          <a:schemeClr val="tx1"/>
        </a:solidFill>
        <a:latin typeface="+mn-lt"/>
        <a:ea typeface="+mn-ea"/>
        <a:cs typeface="+mn-cs"/>
      </a:defRPr>
    </a:lvl4pPr>
    <a:lvl5pPr marL="1828586" algn="l" defTabSz="457146" rtl="0" eaLnBrk="1" latinLnBrk="0" hangingPunct="1">
      <a:defRPr sz="1799" kern="1200">
        <a:solidFill>
          <a:schemeClr val="tx1"/>
        </a:solidFill>
        <a:latin typeface="+mn-lt"/>
        <a:ea typeface="+mn-ea"/>
        <a:cs typeface="+mn-cs"/>
      </a:defRPr>
    </a:lvl5pPr>
    <a:lvl6pPr marL="2285732" algn="l" defTabSz="457146" rtl="0" eaLnBrk="1" latinLnBrk="0" hangingPunct="1">
      <a:defRPr sz="1799" kern="1200">
        <a:solidFill>
          <a:schemeClr val="tx1"/>
        </a:solidFill>
        <a:latin typeface="+mn-lt"/>
        <a:ea typeface="+mn-ea"/>
        <a:cs typeface="+mn-cs"/>
      </a:defRPr>
    </a:lvl6pPr>
    <a:lvl7pPr marL="2742880" algn="l" defTabSz="457146" rtl="0" eaLnBrk="1" latinLnBrk="0" hangingPunct="1">
      <a:defRPr sz="1799" kern="1200">
        <a:solidFill>
          <a:schemeClr val="tx1"/>
        </a:solidFill>
        <a:latin typeface="+mn-lt"/>
        <a:ea typeface="+mn-ea"/>
        <a:cs typeface="+mn-cs"/>
      </a:defRPr>
    </a:lvl7pPr>
    <a:lvl8pPr marL="3200026" algn="l" defTabSz="457146" rtl="0" eaLnBrk="1" latinLnBrk="0" hangingPunct="1">
      <a:defRPr sz="1799" kern="1200">
        <a:solidFill>
          <a:schemeClr val="tx1"/>
        </a:solidFill>
        <a:latin typeface="+mn-lt"/>
        <a:ea typeface="+mn-ea"/>
        <a:cs typeface="+mn-cs"/>
      </a:defRPr>
    </a:lvl8pPr>
    <a:lvl9pPr marL="3657172" algn="l" defTabSz="457146" rtl="0" eaLnBrk="1" latinLnBrk="0" hangingPunct="1">
      <a:defRPr sz="1799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5120" autoAdjust="0"/>
    <p:restoredTop sz="94660"/>
  </p:normalViewPr>
  <p:slideViewPr>
    <p:cSldViewPr snapToGrid="0">
      <p:cViewPr>
        <p:scale>
          <a:sx n="120" d="100"/>
          <a:sy n="120" d="100"/>
        </p:scale>
        <p:origin x="1602" y="-25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54380" y="1272011"/>
            <a:ext cx="8549640" cy="2705947"/>
          </a:xfrm>
        </p:spPr>
        <p:txBody>
          <a:bodyPr anchor="b"/>
          <a:lstStyle>
            <a:lvl1pPr algn="ctr">
              <a:defRPr sz="6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257300" y="4082310"/>
            <a:ext cx="7543800" cy="1876530"/>
          </a:xfrm>
        </p:spPr>
        <p:txBody>
          <a:bodyPr/>
          <a:lstStyle>
            <a:lvl1pPr marL="0" indent="0" algn="ctr">
              <a:buNone/>
              <a:defRPr sz="2640"/>
            </a:lvl1pPr>
            <a:lvl2pPr marL="502920" indent="0" algn="ctr">
              <a:buNone/>
              <a:defRPr sz="2200"/>
            </a:lvl2pPr>
            <a:lvl3pPr marL="1005840" indent="0" algn="ctr">
              <a:buNone/>
              <a:defRPr sz="1980"/>
            </a:lvl3pPr>
            <a:lvl4pPr marL="1508760" indent="0" algn="ctr">
              <a:buNone/>
              <a:defRPr sz="1760"/>
            </a:lvl4pPr>
            <a:lvl5pPr marL="2011680" indent="0" algn="ctr">
              <a:buNone/>
              <a:defRPr sz="1760"/>
            </a:lvl5pPr>
            <a:lvl6pPr marL="2514600" indent="0" algn="ctr">
              <a:buNone/>
              <a:defRPr sz="1760"/>
            </a:lvl6pPr>
            <a:lvl7pPr marL="3017520" indent="0" algn="ctr">
              <a:buNone/>
              <a:defRPr sz="1760"/>
            </a:lvl7pPr>
            <a:lvl8pPr marL="3520440" indent="0" algn="ctr">
              <a:buNone/>
              <a:defRPr sz="1760"/>
            </a:lvl8pPr>
            <a:lvl9pPr marL="4023360" indent="0" algn="ctr">
              <a:buNone/>
              <a:defRPr sz="176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220306-9D22-4C20-AD8B-44777323CD9F}" type="datetimeFigureOut">
              <a:rPr lang="en-US" smtClean="0"/>
              <a:t>5/7/2026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95AF98-5551-46A6-88D7-34873018511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0382547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220306-9D22-4C20-AD8B-44777323CD9F}" type="datetimeFigureOut">
              <a:rPr lang="en-US" smtClean="0"/>
              <a:t>5/7/2026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95AF98-5551-46A6-88D7-34873018511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6128565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6277" y="1937706"/>
            <a:ext cx="8675370" cy="3233102"/>
          </a:xfrm>
        </p:spPr>
        <p:txBody>
          <a:bodyPr anchor="b"/>
          <a:lstStyle>
            <a:lvl1pPr>
              <a:defRPr sz="6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6277" y="5201393"/>
            <a:ext cx="8675370" cy="1700212"/>
          </a:xfrm>
        </p:spPr>
        <p:txBody>
          <a:bodyPr/>
          <a:lstStyle>
            <a:lvl1pPr marL="0" indent="0">
              <a:buNone/>
              <a:defRPr sz="2640">
                <a:solidFill>
                  <a:schemeClr val="tx1">
                    <a:tint val="82000"/>
                  </a:schemeClr>
                </a:solidFill>
              </a:defRPr>
            </a:lvl1pPr>
            <a:lvl2pPr marL="502920" indent="0">
              <a:buNone/>
              <a:defRPr sz="2200">
                <a:solidFill>
                  <a:schemeClr val="tx1">
                    <a:tint val="82000"/>
                  </a:schemeClr>
                </a:solidFill>
              </a:defRPr>
            </a:lvl2pPr>
            <a:lvl3pPr marL="1005840" indent="0">
              <a:buNone/>
              <a:defRPr sz="1980">
                <a:solidFill>
                  <a:schemeClr val="tx1">
                    <a:tint val="82000"/>
                  </a:schemeClr>
                </a:solidFill>
              </a:defRPr>
            </a:lvl3pPr>
            <a:lvl4pPr marL="1508760" indent="0">
              <a:buNone/>
              <a:defRPr sz="1760">
                <a:solidFill>
                  <a:schemeClr val="tx1">
                    <a:tint val="82000"/>
                  </a:schemeClr>
                </a:solidFill>
              </a:defRPr>
            </a:lvl4pPr>
            <a:lvl5pPr marL="2011680" indent="0">
              <a:buNone/>
              <a:defRPr sz="1760">
                <a:solidFill>
                  <a:schemeClr val="tx1">
                    <a:tint val="82000"/>
                  </a:schemeClr>
                </a:solidFill>
              </a:defRPr>
            </a:lvl5pPr>
            <a:lvl6pPr marL="2514600" indent="0">
              <a:buNone/>
              <a:defRPr sz="1760">
                <a:solidFill>
                  <a:schemeClr val="tx1">
                    <a:tint val="82000"/>
                  </a:schemeClr>
                </a:solidFill>
              </a:defRPr>
            </a:lvl6pPr>
            <a:lvl7pPr marL="3017520" indent="0">
              <a:buNone/>
              <a:defRPr sz="1760">
                <a:solidFill>
                  <a:schemeClr val="tx1">
                    <a:tint val="82000"/>
                  </a:schemeClr>
                </a:solidFill>
              </a:defRPr>
            </a:lvl7pPr>
            <a:lvl8pPr marL="3520440" indent="0">
              <a:buNone/>
              <a:defRPr sz="1760">
                <a:solidFill>
                  <a:schemeClr val="tx1">
                    <a:tint val="82000"/>
                  </a:schemeClr>
                </a:solidFill>
              </a:defRPr>
            </a:lvl8pPr>
            <a:lvl9pPr marL="4023360" indent="0">
              <a:buNone/>
              <a:defRPr sz="176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220306-9D22-4C20-AD8B-44777323CD9F}" type="datetimeFigureOut">
              <a:rPr lang="en-US" smtClean="0"/>
              <a:t>5/7/2026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95AF98-5551-46A6-88D7-34873018511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993380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91515" y="2069042"/>
            <a:ext cx="4274820" cy="493151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92065" y="2069042"/>
            <a:ext cx="4274820" cy="493151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220306-9D22-4C20-AD8B-44777323CD9F}" type="datetimeFigureOut">
              <a:rPr lang="en-US" smtClean="0"/>
              <a:t>5/7/2026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95AF98-5551-46A6-88D7-34873018511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0755129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92825" y="413811"/>
            <a:ext cx="8675370" cy="1502305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92826" y="1905318"/>
            <a:ext cx="4255174" cy="933767"/>
          </a:xfrm>
        </p:spPr>
        <p:txBody>
          <a:bodyPr anchor="b"/>
          <a:lstStyle>
            <a:lvl1pPr marL="0" indent="0">
              <a:buNone/>
              <a:defRPr sz="2640" b="1"/>
            </a:lvl1pPr>
            <a:lvl2pPr marL="502920" indent="0">
              <a:buNone/>
              <a:defRPr sz="2200" b="1"/>
            </a:lvl2pPr>
            <a:lvl3pPr marL="1005840" indent="0">
              <a:buNone/>
              <a:defRPr sz="1980" b="1"/>
            </a:lvl3pPr>
            <a:lvl4pPr marL="1508760" indent="0">
              <a:buNone/>
              <a:defRPr sz="1760" b="1"/>
            </a:lvl4pPr>
            <a:lvl5pPr marL="2011680" indent="0">
              <a:buNone/>
              <a:defRPr sz="1760" b="1"/>
            </a:lvl5pPr>
            <a:lvl6pPr marL="2514600" indent="0">
              <a:buNone/>
              <a:defRPr sz="1760" b="1"/>
            </a:lvl6pPr>
            <a:lvl7pPr marL="3017520" indent="0">
              <a:buNone/>
              <a:defRPr sz="1760" b="1"/>
            </a:lvl7pPr>
            <a:lvl8pPr marL="3520440" indent="0">
              <a:buNone/>
              <a:defRPr sz="1760" b="1"/>
            </a:lvl8pPr>
            <a:lvl9pPr marL="4023360" indent="0">
              <a:buNone/>
              <a:defRPr sz="176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92826" y="2839085"/>
            <a:ext cx="4255174" cy="417586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92067" y="1905318"/>
            <a:ext cx="4276130" cy="933767"/>
          </a:xfrm>
        </p:spPr>
        <p:txBody>
          <a:bodyPr anchor="b"/>
          <a:lstStyle>
            <a:lvl1pPr marL="0" indent="0">
              <a:buNone/>
              <a:defRPr sz="2640" b="1"/>
            </a:lvl1pPr>
            <a:lvl2pPr marL="502920" indent="0">
              <a:buNone/>
              <a:defRPr sz="2200" b="1"/>
            </a:lvl2pPr>
            <a:lvl3pPr marL="1005840" indent="0">
              <a:buNone/>
              <a:defRPr sz="1980" b="1"/>
            </a:lvl3pPr>
            <a:lvl4pPr marL="1508760" indent="0">
              <a:buNone/>
              <a:defRPr sz="1760" b="1"/>
            </a:lvl4pPr>
            <a:lvl5pPr marL="2011680" indent="0">
              <a:buNone/>
              <a:defRPr sz="1760" b="1"/>
            </a:lvl5pPr>
            <a:lvl6pPr marL="2514600" indent="0">
              <a:buNone/>
              <a:defRPr sz="1760" b="1"/>
            </a:lvl6pPr>
            <a:lvl7pPr marL="3017520" indent="0">
              <a:buNone/>
              <a:defRPr sz="1760" b="1"/>
            </a:lvl7pPr>
            <a:lvl8pPr marL="3520440" indent="0">
              <a:buNone/>
              <a:defRPr sz="1760" b="1"/>
            </a:lvl8pPr>
            <a:lvl9pPr marL="4023360" indent="0">
              <a:buNone/>
              <a:defRPr sz="176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92067" y="2839085"/>
            <a:ext cx="4276130" cy="417586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220306-9D22-4C20-AD8B-44777323CD9F}" type="datetimeFigureOut">
              <a:rPr lang="en-US" smtClean="0"/>
              <a:t>5/7/2026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95AF98-5551-46A6-88D7-34873018511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2982279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220306-9D22-4C20-AD8B-44777323CD9F}" type="datetimeFigureOut">
              <a:rPr lang="en-US" smtClean="0"/>
              <a:t>5/7/2026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95AF98-5551-46A6-88D7-34873018511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3170899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220306-9D22-4C20-AD8B-44777323CD9F}" type="datetimeFigureOut">
              <a:rPr lang="en-US" smtClean="0"/>
              <a:t>5/7/2026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95AF98-5551-46A6-88D7-34873018511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3658428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92825" y="518160"/>
            <a:ext cx="3244096" cy="1813560"/>
          </a:xfrm>
        </p:spPr>
        <p:txBody>
          <a:bodyPr anchor="b"/>
          <a:lstStyle>
            <a:lvl1pPr>
              <a:defRPr sz="352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276130" y="1119083"/>
            <a:ext cx="5092065" cy="5523442"/>
          </a:xfrm>
        </p:spPr>
        <p:txBody>
          <a:bodyPr/>
          <a:lstStyle>
            <a:lvl1pPr>
              <a:defRPr sz="3520"/>
            </a:lvl1pPr>
            <a:lvl2pPr>
              <a:defRPr sz="3080"/>
            </a:lvl2pPr>
            <a:lvl3pPr>
              <a:defRPr sz="2640"/>
            </a:lvl3pPr>
            <a:lvl4pPr>
              <a:defRPr sz="2200"/>
            </a:lvl4pPr>
            <a:lvl5pPr>
              <a:defRPr sz="2200"/>
            </a:lvl5pPr>
            <a:lvl6pPr>
              <a:defRPr sz="2200"/>
            </a:lvl6pPr>
            <a:lvl7pPr>
              <a:defRPr sz="2200"/>
            </a:lvl7pPr>
            <a:lvl8pPr>
              <a:defRPr sz="2200"/>
            </a:lvl8pPr>
            <a:lvl9pPr>
              <a:defRPr sz="2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92825" y="2331720"/>
            <a:ext cx="3244096" cy="4319800"/>
          </a:xfrm>
        </p:spPr>
        <p:txBody>
          <a:bodyPr/>
          <a:lstStyle>
            <a:lvl1pPr marL="0" indent="0">
              <a:buNone/>
              <a:defRPr sz="1760"/>
            </a:lvl1pPr>
            <a:lvl2pPr marL="502920" indent="0">
              <a:buNone/>
              <a:defRPr sz="1540"/>
            </a:lvl2pPr>
            <a:lvl3pPr marL="1005840" indent="0">
              <a:buNone/>
              <a:defRPr sz="1320"/>
            </a:lvl3pPr>
            <a:lvl4pPr marL="1508760" indent="0">
              <a:buNone/>
              <a:defRPr sz="1100"/>
            </a:lvl4pPr>
            <a:lvl5pPr marL="2011680" indent="0">
              <a:buNone/>
              <a:defRPr sz="1100"/>
            </a:lvl5pPr>
            <a:lvl6pPr marL="2514600" indent="0">
              <a:buNone/>
              <a:defRPr sz="1100"/>
            </a:lvl6pPr>
            <a:lvl7pPr marL="3017520" indent="0">
              <a:buNone/>
              <a:defRPr sz="1100"/>
            </a:lvl7pPr>
            <a:lvl8pPr marL="3520440" indent="0">
              <a:buNone/>
              <a:defRPr sz="1100"/>
            </a:lvl8pPr>
            <a:lvl9pPr marL="4023360" indent="0">
              <a:buNone/>
              <a:defRPr sz="11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220306-9D22-4C20-AD8B-44777323CD9F}" type="datetimeFigureOut">
              <a:rPr lang="en-US" smtClean="0"/>
              <a:t>5/7/2026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95AF98-5551-46A6-88D7-34873018511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80451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92825" y="518160"/>
            <a:ext cx="3244096" cy="1813560"/>
          </a:xfrm>
        </p:spPr>
        <p:txBody>
          <a:bodyPr anchor="b"/>
          <a:lstStyle>
            <a:lvl1pPr>
              <a:defRPr sz="352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276130" y="1119083"/>
            <a:ext cx="5092065" cy="5523442"/>
          </a:xfrm>
        </p:spPr>
        <p:txBody>
          <a:bodyPr anchor="t"/>
          <a:lstStyle>
            <a:lvl1pPr marL="0" indent="0">
              <a:buNone/>
              <a:defRPr sz="3520"/>
            </a:lvl1pPr>
            <a:lvl2pPr marL="502920" indent="0">
              <a:buNone/>
              <a:defRPr sz="3080"/>
            </a:lvl2pPr>
            <a:lvl3pPr marL="1005840" indent="0">
              <a:buNone/>
              <a:defRPr sz="2640"/>
            </a:lvl3pPr>
            <a:lvl4pPr marL="1508760" indent="0">
              <a:buNone/>
              <a:defRPr sz="2200"/>
            </a:lvl4pPr>
            <a:lvl5pPr marL="2011680" indent="0">
              <a:buNone/>
              <a:defRPr sz="2200"/>
            </a:lvl5pPr>
            <a:lvl6pPr marL="2514600" indent="0">
              <a:buNone/>
              <a:defRPr sz="2200"/>
            </a:lvl6pPr>
            <a:lvl7pPr marL="3017520" indent="0">
              <a:buNone/>
              <a:defRPr sz="2200"/>
            </a:lvl7pPr>
            <a:lvl8pPr marL="3520440" indent="0">
              <a:buNone/>
              <a:defRPr sz="2200"/>
            </a:lvl8pPr>
            <a:lvl9pPr marL="4023360" indent="0">
              <a:buNone/>
              <a:defRPr sz="22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92825" y="2331720"/>
            <a:ext cx="3244096" cy="4319800"/>
          </a:xfrm>
        </p:spPr>
        <p:txBody>
          <a:bodyPr/>
          <a:lstStyle>
            <a:lvl1pPr marL="0" indent="0">
              <a:buNone/>
              <a:defRPr sz="1760"/>
            </a:lvl1pPr>
            <a:lvl2pPr marL="502920" indent="0">
              <a:buNone/>
              <a:defRPr sz="1540"/>
            </a:lvl2pPr>
            <a:lvl3pPr marL="1005840" indent="0">
              <a:buNone/>
              <a:defRPr sz="1320"/>
            </a:lvl3pPr>
            <a:lvl4pPr marL="1508760" indent="0">
              <a:buNone/>
              <a:defRPr sz="1100"/>
            </a:lvl4pPr>
            <a:lvl5pPr marL="2011680" indent="0">
              <a:buNone/>
              <a:defRPr sz="1100"/>
            </a:lvl5pPr>
            <a:lvl6pPr marL="2514600" indent="0">
              <a:buNone/>
              <a:defRPr sz="1100"/>
            </a:lvl6pPr>
            <a:lvl7pPr marL="3017520" indent="0">
              <a:buNone/>
              <a:defRPr sz="1100"/>
            </a:lvl7pPr>
            <a:lvl8pPr marL="3520440" indent="0">
              <a:buNone/>
              <a:defRPr sz="1100"/>
            </a:lvl8pPr>
            <a:lvl9pPr marL="4023360" indent="0">
              <a:buNone/>
              <a:defRPr sz="11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220306-9D22-4C20-AD8B-44777323CD9F}" type="datetimeFigureOut">
              <a:rPr lang="en-US" smtClean="0"/>
              <a:t>5/7/2026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95AF98-5551-46A6-88D7-34873018511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58167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220306-9D22-4C20-AD8B-44777323CD9F}" type="datetimeFigureOut">
              <a:rPr lang="en-US" smtClean="0"/>
              <a:t>5/7/2026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95AF98-5551-46A6-88D7-34873018511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4434437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198044" y="413808"/>
            <a:ext cx="2168843" cy="6586750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91515" y="413808"/>
            <a:ext cx="6380798" cy="658675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220306-9D22-4C20-AD8B-44777323CD9F}" type="datetimeFigureOut">
              <a:rPr lang="en-US" smtClean="0"/>
              <a:t>5/7/2026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95AF98-5551-46A6-88D7-34873018511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1579959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91515" y="413811"/>
            <a:ext cx="8675370" cy="150230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91515" y="2069042"/>
            <a:ext cx="8675370" cy="493151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91515" y="7203865"/>
            <a:ext cx="2263140" cy="41380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32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F220306-9D22-4C20-AD8B-44777323CD9F}" type="datetimeFigureOut">
              <a:rPr lang="en-US" smtClean="0"/>
              <a:t>5/7/2026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331845" y="7203865"/>
            <a:ext cx="3394710" cy="41380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32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7103745" y="7203865"/>
            <a:ext cx="2263140" cy="41380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32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A95AF98-5551-46A6-88D7-34873018511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6242247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5" r:id="rId1"/>
    <p:sldLayoutId id="2147483686" r:id="rId2"/>
    <p:sldLayoutId id="2147483687" r:id="rId3"/>
    <p:sldLayoutId id="2147483688" r:id="rId4"/>
    <p:sldLayoutId id="2147483689" r:id="rId5"/>
    <p:sldLayoutId id="2147483690" r:id="rId6"/>
    <p:sldLayoutId id="2147483691" r:id="rId7"/>
    <p:sldLayoutId id="2147483692" r:id="rId8"/>
    <p:sldLayoutId id="2147483693" r:id="rId9"/>
    <p:sldLayoutId id="2147483694" r:id="rId10"/>
    <p:sldLayoutId id="2147483695" r:id="rId11"/>
  </p:sldLayoutIdLst>
  <p:txStyles>
    <p:titleStyle>
      <a:lvl1pPr algn="l" defTabSz="1005840" rtl="0" eaLnBrk="1" latinLnBrk="0" hangingPunct="1">
        <a:lnSpc>
          <a:spcPct val="90000"/>
        </a:lnSpc>
        <a:spcBef>
          <a:spcPct val="0"/>
        </a:spcBef>
        <a:buNone/>
        <a:defRPr sz="484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51460" indent="-251460" algn="l" defTabSz="1005840" rtl="0" eaLnBrk="1" latinLnBrk="0" hangingPunct="1">
        <a:lnSpc>
          <a:spcPct val="90000"/>
        </a:lnSpc>
        <a:spcBef>
          <a:spcPts val="1100"/>
        </a:spcBef>
        <a:buFont typeface="Arial" panose="020B0604020202020204" pitchFamily="34" charset="0"/>
        <a:buChar char="•"/>
        <a:defRPr sz="3080" kern="1200">
          <a:solidFill>
            <a:schemeClr val="tx1"/>
          </a:solidFill>
          <a:latin typeface="+mn-lt"/>
          <a:ea typeface="+mn-ea"/>
          <a:cs typeface="+mn-cs"/>
        </a:defRPr>
      </a:lvl1pPr>
      <a:lvl2pPr marL="754380" indent="-251460" algn="l" defTabSz="1005840" rtl="0" eaLnBrk="1" latinLnBrk="0" hangingPunct="1">
        <a:lnSpc>
          <a:spcPct val="90000"/>
        </a:lnSpc>
        <a:spcBef>
          <a:spcPts val="550"/>
        </a:spcBef>
        <a:buFont typeface="Arial" panose="020B0604020202020204" pitchFamily="34" charset="0"/>
        <a:buChar char="•"/>
        <a:defRPr sz="2640" kern="1200">
          <a:solidFill>
            <a:schemeClr val="tx1"/>
          </a:solidFill>
          <a:latin typeface="+mn-lt"/>
          <a:ea typeface="+mn-ea"/>
          <a:cs typeface="+mn-cs"/>
        </a:defRPr>
      </a:lvl2pPr>
      <a:lvl3pPr marL="1257300" indent="-251460" algn="l" defTabSz="1005840" rtl="0" eaLnBrk="1" latinLnBrk="0" hangingPunct="1">
        <a:lnSpc>
          <a:spcPct val="90000"/>
        </a:lnSpc>
        <a:spcBef>
          <a:spcPts val="550"/>
        </a:spcBef>
        <a:buFont typeface="Arial" panose="020B0604020202020204" pitchFamily="34" charset="0"/>
        <a:buChar char="•"/>
        <a:defRPr sz="2200" kern="1200">
          <a:solidFill>
            <a:schemeClr val="tx1"/>
          </a:solidFill>
          <a:latin typeface="+mn-lt"/>
          <a:ea typeface="+mn-ea"/>
          <a:cs typeface="+mn-cs"/>
        </a:defRPr>
      </a:lvl3pPr>
      <a:lvl4pPr marL="1760220" indent="-251460" algn="l" defTabSz="1005840" rtl="0" eaLnBrk="1" latinLnBrk="0" hangingPunct="1">
        <a:lnSpc>
          <a:spcPct val="90000"/>
        </a:lnSpc>
        <a:spcBef>
          <a:spcPts val="550"/>
        </a:spcBef>
        <a:buFont typeface="Arial" panose="020B0604020202020204" pitchFamily="34" charset="0"/>
        <a:buChar char="•"/>
        <a:defRPr sz="1980" kern="1200">
          <a:solidFill>
            <a:schemeClr val="tx1"/>
          </a:solidFill>
          <a:latin typeface="+mn-lt"/>
          <a:ea typeface="+mn-ea"/>
          <a:cs typeface="+mn-cs"/>
        </a:defRPr>
      </a:lvl4pPr>
      <a:lvl5pPr marL="2263140" indent="-251460" algn="l" defTabSz="1005840" rtl="0" eaLnBrk="1" latinLnBrk="0" hangingPunct="1">
        <a:lnSpc>
          <a:spcPct val="90000"/>
        </a:lnSpc>
        <a:spcBef>
          <a:spcPts val="550"/>
        </a:spcBef>
        <a:buFont typeface="Arial" panose="020B0604020202020204" pitchFamily="34" charset="0"/>
        <a:buChar char="•"/>
        <a:defRPr sz="1980" kern="1200">
          <a:solidFill>
            <a:schemeClr val="tx1"/>
          </a:solidFill>
          <a:latin typeface="+mn-lt"/>
          <a:ea typeface="+mn-ea"/>
          <a:cs typeface="+mn-cs"/>
        </a:defRPr>
      </a:lvl5pPr>
      <a:lvl6pPr marL="2766060" indent="-251460" algn="l" defTabSz="1005840" rtl="0" eaLnBrk="1" latinLnBrk="0" hangingPunct="1">
        <a:lnSpc>
          <a:spcPct val="90000"/>
        </a:lnSpc>
        <a:spcBef>
          <a:spcPts val="550"/>
        </a:spcBef>
        <a:buFont typeface="Arial" panose="020B0604020202020204" pitchFamily="34" charset="0"/>
        <a:buChar char="•"/>
        <a:defRPr sz="1980" kern="1200">
          <a:solidFill>
            <a:schemeClr val="tx1"/>
          </a:solidFill>
          <a:latin typeface="+mn-lt"/>
          <a:ea typeface="+mn-ea"/>
          <a:cs typeface="+mn-cs"/>
        </a:defRPr>
      </a:lvl6pPr>
      <a:lvl7pPr marL="3268980" indent="-251460" algn="l" defTabSz="1005840" rtl="0" eaLnBrk="1" latinLnBrk="0" hangingPunct="1">
        <a:lnSpc>
          <a:spcPct val="90000"/>
        </a:lnSpc>
        <a:spcBef>
          <a:spcPts val="550"/>
        </a:spcBef>
        <a:buFont typeface="Arial" panose="020B0604020202020204" pitchFamily="34" charset="0"/>
        <a:buChar char="•"/>
        <a:defRPr sz="1980" kern="1200">
          <a:solidFill>
            <a:schemeClr val="tx1"/>
          </a:solidFill>
          <a:latin typeface="+mn-lt"/>
          <a:ea typeface="+mn-ea"/>
          <a:cs typeface="+mn-cs"/>
        </a:defRPr>
      </a:lvl7pPr>
      <a:lvl8pPr marL="3771900" indent="-251460" algn="l" defTabSz="1005840" rtl="0" eaLnBrk="1" latinLnBrk="0" hangingPunct="1">
        <a:lnSpc>
          <a:spcPct val="90000"/>
        </a:lnSpc>
        <a:spcBef>
          <a:spcPts val="550"/>
        </a:spcBef>
        <a:buFont typeface="Arial" panose="020B0604020202020204" pitchFamily="34" charset="0"/>
        <a:buChar char="•"/>
        <a:defRPr sz="1980" kern="1200">
          <a:solidFill>
            <a:schemeClr val="tx1"/>
          </a:solidFill>
          <a:latin typeface="+mn-lt"/>
          <a:ea typeface="+mn-ea"/>
          <a:cs typeface="+mn-cs"/>
        </a:defRPr>
      </a:lvl8pPr>
      <a:lvl9pPr marL="4274820" indent="-251460" algn="l" defTabSz="1005840" rtl="0" eaLnBrk="1" latinLnBrk="0" hangingPunct="1">
        <a:lnSpc>
          <a:spcPct val="90000"/>
        </a:lnSpc>
        <a:spcBef>
          <a:spcPts val="550"/>
        </a:spcBef>
        <a:buFont typeface="Arial" panose="020B0604020202020204" pitchFamily="34" charset="0"/>
        <a:buChar char="•"/>
        <a:defRPr sz="198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005840" rtl="0" eaLnBrk="1" latinLnBrk="0" hangingPunct="1">
        <a:defRPr sz="1980" kern="1200">
          <a:solidFill>
            <a:schemeClr val="tx1"/>
          </a:solidFill>
          <a:latin typeface="+mn-lt"/>
          <a:ea typeface="+mn-ea"/>
          <a:cs typeface="+mn-cs"/>
        </a:defRPr>
      </a:lvl1pPr>
      <a:lvl2pPr marL="502920" algn="l" defTabSz="1005840" rtl="0" eaLnBrk="1" latinLnBrk="0" hangingPunct="1">
        <a:defRPr sz="1980" kern="1200">
          <a:solidFill>
            <a:schemeClr val="tx1"/>
          </a:solidFill>
          <a:latin typeface="+mn-lt"/>
          <a:ea typeface="+mn-ea"/>
          <a:cs typeface="+mn-cs"/>
        </a:defRPr>
      </a:lvl2pPr>
      <a:lvl3pPr marL="1005840" algn="l" defTabSz="1005840" rtl="0" eaLnBrk="1" latinLnBrk="0" hangingPunct="1">
        <a:defRPr sz="1980" kern="1200">
          <a:solidFill>
            <a:schemeClr val="tx1"/>
          </a:solidFill>
          <a:latin typeface="+mn-lt"/>
          <a:ea typeface="+mn-ea"/>
          <a:cs typeface="+mn-cs"/>
        </a:defRPr>
      </a:lvl3pPr>
      <a:lvl4pPr marL="1508760" algn="l" defTabSz="1005840" rtl="0" eaLnBrk="1" latinLnBrk="0" hangingPunct="1">
        <a:defRPr sz="1980" kern="1200">
          <a:solidFill>
            <a:schemeClr val="tx1"/>
          </a:solidFill>
          <a:latin typeface="+mn-lt"/>
          <a:ea typeface="+mn-ea"/>
          <a:cs typeface="+mn-cs"/>
        </a:defRPr>
      </a:lvl4pPr>
      <a:lvl5pPr marL="2011680" algn="l" defTabSz="1005840" rtl="0" eaLnBrk="1" latinLnBrk="0" hangingPunct="1">
        <a:defRPr sz="198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algn="l" defTabSz="1005840" rtl="0" eaLnBrk="1" latinLnBrk="0" hangingPunct="1">
        <a:defRPr sz="1980" kern="1200">
          <a:solidFill>
            <a:schemeClr val="tx1"/>
          </a:solidFill>
          <a:latin typeface="+mn-lt"/>
          <a:ea typeface="+mn-ea"/>
          <a:cs typeface="+mn-cs"/>
        </a:defRPr>
      </a:lvl6pPr>
      <a:lvl7pPr marL="3017520" algn="l" defTabSz="1005840" rtl="0" eaLnBrk="1" latinLnBrk="0" hangingPunct="1">
        <a:defRPr sz="1980" kern="1200">
          <a:solidFill>
            <a:schemeClr val="tx1"/>
          </a:solidFill>
          <a:latin typeface="+mn-lt"/>
          <a:ea typeface="+mn-ea"/>
          <a:cs typeface="+mn-cs"/>
        </a:defRPr>
      </a:lvl7pPr>
      <a:lvl8pPr marL="3520440" algn="l" defTabSz="1005840" rtl="0" eaLnBrk="1" latinLnBrk="0" hangingPunct="1">
        <a:defRPr sz="1980" kern="1200">
          <a:solidFill>
            <a:schemeClr val="tx1"/>
          </a:solidFill>
          <a:latin typeface="+mn-lt"/>
          <a:ea typeface="+mn-ea"/>
          <a:cs typeface="+mn-cs"/>
        </a:defRPr>
      </a:lvl8pPr>
      <a:lvl9pPr marL="4023360" algn="l" defTabSz="1005840" rtl="0" eaLnBrk="1" latinLnBrk="0" hangingPunct="1">
        <a:defRPr sz="198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TextBox 18">
            <a:extLst>
              <a:ext uri="{FF2B5EF4-FFF2-40B4-BE49-F238E27FC236}">
                <a16:creationId xmlns:a16="http://schemas.microsoft.com/office/drawing/2014/main" id="{BC6D4241-FA68-0272-2D2E-16DF6A37E400}"/>
              </a:ext>
            </a:extLst>
          </p:cNvPr>
          <p:cNvSpPr txBox="1"/>
          <p:nvPr/>
        </p:nvSpPr>
        <p:spPr>
          <a:xfrm>
            <a:off x="0" y="162830"/>
            <a:ext cx="537327" cy="25359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48" b="1" dirty="0">
                <a:latin typeface="Arial" panose="020B0604020202020204" pitchFamily="34" charset="0"/>
                <a:cs typeface="Arial" panose="020B0604020202020204" pitchFamily="34" charset="0"/>
              </a:rPr>
              <a:t>ICD-9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E9392A3F-2CE1-5C80-9EF1-AA54454DD4F9}"/>
              </a:ext>
            </a:extLst>
          </p:cNvPr>
          <p:cNvSpPr txBox="1"/>
          <p:nvPr/>
        </p:nvSpPr>
        <p:spPr>
          <a:xfrm>
            <a:off x="3300836" y="171535"/>
            <a:ext cx="612668" cy="25359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48" b="1" dirty="0">
                <a:latin typeface="Arial" panose="020B0604020202020204" pitchFamily="34" charset="0"/>
                <a:cs typeface="Arial" panose="020B0604020202020204" pitchFamily="34" charset="0"/>
              </a:rPr>
              <a:t>ICD-10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DB38A5B8-E6E6-CBB7-422F-BA3499B900ED}"/>
              </a:ext>
            </a:extLst>
          </p:cNvPr>
          <p:cNvSpPr txBox="1"/>
          <p:nvPr/>
        </p:nvSpPr>
        <p:spPr>
          <a:xfrm>
            <a:off x="6646191" y="162830"/>
            <a:ext cx="612668" cy="25359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48" b="1" dirty="0">
                <a:latin typeface="Arial" panose="020B0604020202020204" pitchFamily="34" charset="0"/>
                <a:cs typeface="Arial" panose="020B0604020202020204" pitchFamily="34" charset="0"/>
              </a:rPr>
              <a:t>ICD-11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11CE2D3C-E79B-8610-B345-07E56546430B}"/>
              </a:ext>
            </a:extLst>
          </p:cNvPr>
          <p:cNvSpPr txBox="1"/>
          <p:nvPr/>
        </p:nvSpPr>
        <p:spPr>
          <a:xfrm>
            <a:off x="0" y="2946340"/>
            <a:ext cx="612668" cy="25359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48" b="1" dirty="0">
                <a:latin typeface="Arial" panose="020B0604020202020204" pitchFamily="34" charset="0"/>
                <a:cs typeface="Arial" panose="020B0604020202020204" pitchFamily="34" charset="0"/>
              </a:rPr>
              <a:t>ICD-11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7117D121-6E4E-5E35-C837-17F828E66175}"/>
              </a:ext>
            </a:extLst>
          </p:cNvPr>
          <p:cNvSpPr txBox="1"/>
          <p:nvPr/>
        </p:nvSpPr>
        <p:spPr>
          <a:xfrm>
            <a:off x="3300836" y="2960331"/>
            <a:ext cx="612668" cy="25359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48" b="1" dirty="0">
                <a:latin typeface="Arial" panose="020B0604020202020204" pitchFamily="34" charset="0"/>
                <a:cs typeface="Arial" panose="020B0604020202020204" pitchFamily="34" charset="0"/>
              </a:rPr>
              <a:t>ICD-10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0A16068E-E989-BCB8-4005-EAE689C1DE2F}"/>
              </a:ext>
            </a:extLst>
          </p:cNvPr>
          <p:cNvSpPr txBox="1"/>
          <p:nvPr/>
        </p:nvSpPr>
        <p:spPr>
          <a:xfrm>
            <a:off x="6646191" y="2960331"/>
            <a:ext cx="537327" cy="25359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48" b="1" dirty="0">
                <a:latin typeface="Arial" panose="020B0604020202020204" pitchFamily="34" charset="0"/>
                <a:cs typeface="Arial" panose="020B0604020202020204" pitchFamily="34" charset="0"/>
              </a:rPr>
              <a:t>ICD-9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091A89EF-37DE-383E-791E-F87DBB48DE86}"/>
              </a:ext>
            </a:extLst>
          </p:cNvPr>
          <p:cNvSpPr txBox="1"/>
          <p:nvPr/>
        </p:nvSpPr>
        <p:spPr>
          <a:xfrm>
            <a:off x="3633625" y="0"/>
            <a:ext cx="2791149" cy="25359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48" b="1" dirty="0">
                <a:latin typeface="Arial" panose="020B0604020202020204" pitchFamily="34" charset="0"/>
                <a:cs typeface="Arial" panose="020B0604020202020204" pitchFamily="34" charset="0"/>
              </a:rPr>
              <a:t>Forward Mapping Aspergillus ICD Codes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45D0E50C-9D98-744C-3747-517161C6BBFD}"/>
              </a:ext>
            </a:extLst>
          </p:cNvPr>
          <p:cNvSpPr txBox="1"/>
          <p:nvPr/>
        </p:nvSpPr>
        <p:spPr>
          <a:xfrm>
            <a:off x="3607170" y="2798251"/>
            <a:ext cx="2787943" cy="25359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48" b="1" dirty="0">
                <a:latin typeface="Arial" panose="020B0604020202020204" pitchFamily="34" charset="0"/>
                <a:cs typeface="Arial" panose="020B0604020202020204" pitchFamily="34" charset="0"/>
              </a:rPr>
              <a:t>Reverse Mapping Aspergillus ICD Codes</a:t>
            </a:r>
          </a:p>
        </p:txBody>
      </p:sp>
      <p:pic>
        <p:nvPicPr>
          <p:cNvPr id="72" name="Picture 71">
            <a:extLst>
              <a:ext uri="{FF2B5EF4-FFF2-40B4-BE49-F238E27FC236}">
                <a16:creationId xmlns:a16="http://schemas.microsoft.com/office/drawing/2014/main" id="{EFB6C1F5-C851-65D2-D4BC-B3106042B02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467316"/>
            <a:ext cx="10058400" cy="1589227"/>
          </a:xfrm>
          <a:prstGeom prst="rect">
            <a:avLst/>
          </a:prstGeom>
        </p:spPr>
      </p:pic>
      <p:pic>
        <p:nvPicPr>
          <p:cNvPr id="74" name="Picture 73">
            <a:extLst>
              <a:ext uri="{FF2B5EF4-FFF2-40B4-BE49-F238E27FC236}">
                <a16:creationId xmlns:a16="http://schemas.microsoft.com/office/drawing/2014/main" id="{D9C76E98-38C4-B1F8-8E60-7C25384B42C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1" y="3137140"/>
            <a:ext cx="10058400" cy="3822192"/>
          </a:xfrm>
          <a:prstGeom prst="rect">
            <a:avLst/>
          </a:prstGeom>
        </p:spPr>
      </p:pic>
      <p:sp>
        <p:nvSpPr>
          <p:cNvPr id="101" name="TextBox 100">
            <a:extLst>
              <a:ext uri="{FF2B5EF4-FFF2-40B4-BE49-F238E27FC236}">
                <a16:creationId xmlns:a16="http://schemas.microsoft.com/office/drawing/2014/main" id="{5E3D0800-FA44-2A8F-44D7-514BD32E6756}"/>
              </a:ext>
            </a:extLst>
          </p:cNvPr>
          <p:cNvSpPr txBox="1"/>
          <p:nvPr/>
        </p:nvSpPr>
        <p:spPr>
          <a:xfrm>
            <a:off x="0" y="1862717"/>
            <a:ext cx="10058401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b="1" dirty="0">
                <a:latin typeface="Arial" panose="020B0604020202020204" pitchFamily="34" charset="0"/>
                <a:cs typeface="Arial" panose="020B0604020202020204" pitchFamily="34" charset="0"/>
              </a:rPr>
              <a:t>Supplemental Figure 1. Aspergillus ICD Code Mapping: Best Match Forward Sankey Network</a:t>
            </a:r>
          </a:p>
          <a:p>
            <a:r>
              <a:rPr lang="en-US" sz="1000" dirty="0">
                <a:latin typeface="Arial" panose="020B0604020202020204" pitchFamily="34" charset="0"/>
                <a:cs typeface="Arial" panose="020B0604020202020204" pitchFamily="34" charset="0"/>
              </a:rPr>
              <a:t>Nodes represent individual ICD codes across versions (ICD-9, -10, -11), connected by links indicating mapping pairs with the highest match score, with ties. Primary mapping utilized a stepwise strategy requiring a minimum cumulative match score of 45 out of 100 points. To capture complex relationships, a “skip-link” strategy was employed for pairs that either failed the initial threshold or exceed the stepwise score by ≥ 10 points. Codes with unlinked nodes (“Orphan” codes) represent version-specific entries that did not meet the minimum match criteria in either strategy and are indicated by a pink node with text indicating the ICD version(s) to which it is unique. Light Blue Nodes: ICD-9, Dark Blue Nodes: ICD-10, and Yellow Nodes: ICD-11</a:t>
            </a:r>
          </a:p>
        </p:txBody>
      </p:sp>
      <p:sp>
        <p:nvSpPr>
          <p:cNvPr id="102" name="TextBox 101">
            <a:extLst>
              <a:ext uri="{FF2B5EF4-FFF2-40B4-BE49-F238E27FC236}">
                <a16:creationId xmlns:a16="http://schemas.microsoft.com/office/drawing/2014/main" id="{7EB94582-B208-6428-2981-910785C23742}"/>
              </a:ext>
            </a:extLst>
          </p:cNvPr>
          <p:cNvSpPr txBox="1"/>
          <p:nvPr/>
        </p:nvSpPr>
        <p:spPr>
          <a:xfrm>
            <a:off x="-28060" y="6797252"/>
            <a:ext cx="10058401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b="1" dirty="0">
                <a:latin typeface="Arial" panose="020B0604020202020204" pitchFamily="34" charset="0"/>
                <a:cs typeface="Arial" panose="020B0604020202020204" pitchFamily="34" charset="0"/>
              </a:rPr>
              <a:t>Supplemental Figure 2. Aspergillus ICD Code Mapping: Best Match Reverse Sankey Network</a:t>
            </a:r>
          </a:p>
          <a:p>
            <a:r>
              <a:rPr lang="en-US" sz="1000" dirty="0">
                <a:latin typeface="Arial" panose="020B0604020202020204" pitchFamily="34" charset="0"/>
                <a:cs typeface="Arial" panose="020B0604020202020204" pitchFamily="34" charset="0"/>
              </a:rPr>
              <a:t>Nodes represent individual ICD codes across versions (ICD-11, -10, -9), connected by links indicating mapping pairs with the highest match score, with ties. Primary mapping utilized a stepwise strategy requiring a minimum cumulative match score of 45 out of 100 points. To capture complex relationships, a “skip-link” strategy was employed for pairs that either failed the initial threshold or exceed the stepwise score by ≥ 10 points. Codes with unlinked nodes (“Orphan” codes) represent version-specific entries that did not meet the minimum match criteria in either strategy and are indicated by a pink node with text indicating the ICD version(s) to which it is unique. Light Blue Nodes: ICD-9, Dark Blue Nodes: ICD-10, and Yellow Nodes: ICD-11</a:t>
            </a:r>
          </a:p>
        </p:txBody>
      </p:sp>
    </p:spTree>
    <p:extLst>
      <p:ext uri="{BB962C8B-B14F-4D97-AF65-F5344CB8AC3E}">
        <p14:creationId xmlns:p14="http://schemas.microsoft.com/office/powerpoint/2010/main" val="335391890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505AF0-1F9F-AB48-3233-A2A55DCF9A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TextBox 18">
            <a:extLst>
              <a:ext uri="{FF2B5EF4-FFF2-40B4-BE49-F238E27FC236}">
                <a16:creationId xmlns:a16="http://schemas.microsoft.com/office/drawing/2014/main" id="{772C0BC8-AED6-A4E1-24A8-5AB331FEA864}"/>
              </a:ext>
            </a:extLst>
          </p:cNvPr>
          <p:cNvSpPr txBox="1"/>
          <p:nvPr/>
        </p:nvSpPr>
        <p:spPr>
          <a:xfrm>
            <a:off x="0" y="244891"/>
            <a:ext cx="537327" cy="25359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48" b="1" dirty="0">
                <a:latin typeface="Arial" panose="020B0604020202020204" pitchFamily="34" charset="0"/>
                <a:cs typeface="Arial" panose="020B0604020202020204" pitchFamily="34" charset="0"/>
              </a:rPr>
              <a:t>ICD-9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46F47A37-40B2-9C55-D937-8F8D3BAD7BC7}"/>
              </a:ext>
            </a:extLst>
          </p:cNvPr>
          <p:cNvSpPr txBox="1"/>
          <p:nvPr/>
        </p:nvSpPr>
        <p:spPr>
          <a:xfrm>
            <a:off x="3300836" y="253596"/>
            <a:ext cx="612668" cy="25359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48" b="1" dirty="0">
                <a:latin typeface="Arial" panose="020B0604020202020204" pitchFamily="34" charset="0"/>
                <a:cs typeface="Arial" panose="020B0604020202020204" pitchFamily="34" charset="0"/>
              </a:rPr>
              <a:t>ICD-10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A83AFDE2-40E5-6C45-7677-3132A42CFC39}"/>
              </a:ext>
            </a:extLst>
          </p:cNvPr>
          <p:cNvSpPr txBox="1"/>
          <p:nvPr/>
        </p:nvSpPr>
        <p:spPr>
          <a:xfrm>
            <a:off x="6646191" y="244891"/>
            <a:ext cx="612668" cy="25359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48" b="1" dirty="0">
                <a:latin typeface="Arial" panose="020B0604020202020204" pitchFamily="34" charset="0"/>
                <a:cs typeface="Arial" panose="020B0604020202020204" pitchFamily="34" charset="0"/>
              </a:rPr>
              <a:t>ICD-11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C5E2E2A8-C993-054D-D560-E697E7BF32A9}"/>
              </a:ext>
            </a:extLst>
          </p:cNvPr>
          <p:cNvSpPr txBox="1"/>
          <p:nvPr/>
        </p:nvSpPr>
        <p:spPr>
          <a:xfrm>
            <a:off x="-1" y="4844212"/>
            <a:ext cx="612668" cy="25359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48" b="1" dirty="0">
                <a:latin typeface="Arial" panose="020B0604020202020204" pitchFamily="34" charset="0"/>
                <a:cs typeface="Arial" panose="020B0604020202020204" pitchFamily="34" charset="0"/>
              </a:rPr>
              <a:t>ICD-11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885CC19F-7763-6972-CB27-1A73D4073EE1}"/>
              </a:ext>
            </a:extLst>
          </p:cNvPr>
          <p:cNvSpPr txBox="1"/>
          <p:nvPr/>
        </p:nvSpPr>
        <p:spPr>
          <a:xfrm>
            <a:off x="3300835" y="4858203"/>
            <a:ext cx="612668" cy="25359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48" b="1" dirty="0">
                <a:latin typeface="Arial" panose="020B0604020202020204" pitchFamily="34" charset="0"/>
                <a:cs typeface="Arial" panose="020B0604020202020204" pitchFamily="34" charset="0"/>
              </a:rPr>
              <a:t>ICD-10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FE4A9478-9738-9741-A12D-DE35AE22775B}"/>
              </a:ext>
            </a:extLst>
          </p:cNvPr>
          <p:cNvSpPr txBox="1"/>
          <p:nvPr/>
        </p:nvSpPr>
        <p:spPr>
          <a:xfrm>
            <a:off x="6646190" y="4858203"/>
            <a:ext cx="537327" cy="25359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48" b="1" dirty="0">
                <a:latin typeface="Arial" panose="020B0604020202020204" pitchFamily="34" charset="0"/>
                <a:cs typeface="Arial" panose="020B0604020202020204" pitchFamily="34" charset="0"/>
              </a:rPr>
              <a:t>ICD-9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6F7A7029-F4F2-B318-A522-712EA36FC74E}"/>
              </a:ext>
            </a:extLst>
          </p:cNvPr>
          <p:cNvSpPr txBox="1"/>
          <p:nvPr/>
        </p:nvSpPr>
        <p:spPr>
          <a:xfrm>
            <a:off x="3633625" y="0"/>
            <a:ext cx="2892138" cy="25359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48" b="1" dirty="0">
                <a:latin typeface="Arial" panose="020B0604020202020204" pitchFamily="34" charset="0"/>
                <a:cs typeface="Arial" panose="020B0604020202020204" pitchFamily="34" charset="0"/>
              </a:rPr>
              <a:t>Forward Mapping Blastomyces ICD Codes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D44399A5-CEC9-5E47-2ABA-6625FFBA08F6}"/>
              </a:ext>
            </a:extLst>
          </p:cNvPr>
          <p:cNvSpPr txBox="1"/>
          <p:nvPr/>
        </p:nvSpPr>
        <p:spPr>
          <a:xfrm>
            <a:off x="3607169" y="4590616"/>
            <a:ext cx="2888932" cy="25359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48" b="1" dirty="0">
                <a:latin typeface="Arial" panose="020B0604020202020204" pitchFamily="34" charset="0"/>
                <a:cs typeface="Arial" panose="020B0604020202020204" pitchFamily="34" charset="0"/>
              </a:rPr>
              <a:t>Reverse Mapping Blastomyces ICD Codes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1CAED2D6-276B-E474-C998-7FF5A01D8A6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498487"/>
            <a:ext cx="10058400" cy="1709928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A2AF8A3A-1558-415C-DE86-C9FAF86BF4B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1" y="5033800"/>
            <a:ext cx="10058400" cy="1709928"/>
          </a:xfrm>
          <a:prstGeom prst="rect">
            <a:avLst/>
          </a:prstGeom>
        </p:spPr>
      </p:pic>
      <p:sp>
        <p:nvSpPr>
          <p:cNvPr id="25" name="TextBox 24">
            <a:extLst>
              <a:ext uri="{FF2B5EF4-FFF2-40B4-BE49-F238E27FC236}">
                <a16:creationId xmlns:a16="http://schemas.microsoft.com/office/drawing/2014/main" id="{E3C7B1B1-16BA-1BF7-D629-FC23B0C6B123}"/>
              </a:ext>
            </a:extLst>
          </p:cNvPr>
          <p:cNvSpPr txBox="1"/>
          <p:nvPr/>
        </p:nvSpPr>
        <p:spPr>
          <a:xfrm>
            <a:off x="-1" y="2166122"/>
            <a:ext cx="10058401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b="1" dirty="0">
                <a:latin typeface="Arial" panose="020B0604020202020204" pitchFamily="34" charset="0"/>
                <a:cs typeface="Arial" panose="020B0604020202020204" pitchFamily="34" charset="0"/>
              </a:rPr>
              <a:t>Supplemental Figure 3. Blastomyces ICD Code Mapping: Best Match Forward Sankey Network</a:t>
            </a:r>
          </a:p>
          <a:p>
            <a:r>
              <a:rPr lang="en-US" sz="1000" dirty="0">
                <a:latin typeface="Arial" panose="020B0604020202020204" pitchFamily="34" charset="0"/>
                <a:cs typeface="Arial" panose="020B0604020202020204" pitchFamily="34" charset="0"/>
              </a:rPr>
              <a:t>Nodes represent individual ICD codes across versions (ICD-9, -10, -11), connected by links indicating mapping pairs with the highest match score, with ties. Primary mapping utilized a stepwise strategy requiring a minimum cumulative match score of 45 out of 100 points. To capture complex relationships, a “skip-link” strategy was employed for pairs that either failed the initial threshold or exceed the stepwise score by ≥ 10 points. Codes with unlinked nodes (“Orphan” codes) represent version-specific entries that did not meet the minimum match criteria in either strategy and are indicated by a pink node with text indicating the ICD version(s) to which it is unique. Light Blue Nodes: ICD-9, Dark Blue Nodes: ICD-10, and Yellow Nodes: ICD-11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1BBDA921-0445-1197-5347-1CCDBCC1FE69}"/>
              </a:ext>
            </a:extLst>
          </p:cNvPr>
          <p:cNvSpPr txBox="1"/>
          <p:nvPr/>
        </p:nvSpPr>
        <p:spPr>
          <a:xfrm>
            <a:off x="0" y="6766081"/>
            <a:ext cx="10058401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b="1" dirty="0">
                <a:latin typeface="Arial" panose="020B0604020202020204" pitchFamily="34" charset="0"/>
                <a:cs typeface="Arial" panose="020B0604020202020204" pitchFamily="34" charset="0"/>
              </a:rPr>
              <a:t>Supplemental Figure 4. Blastomyces ICD Code Mapping: Best Match Reverse Sankey Network</a:t>
            </a:r>
          </a:p>
          <a:p>
            <a:r>
              <a:rPr lang="en-US" sz="1000" dirty="0">
                <a:latin typeface="Arial" panose="020B0604020202020204" pitchFamily="34" charset="0"/>
                <a:cs typeface="Arial" panose="020B0604020202020204" pitchFamily="34" charset="0"/>
              </a:rPr>
              <a:t>Nodes represent individual ICD codes across versions (ICD-11, -10, -9), connected by links indicating mapping pairs with the highest match score, with ties. Primary mapping utilized a stepwise strategy requiring a minimum cumulative match score of 45 out of 100 points. To capture complex relationships, a “skip-link” strategy was employed for pairs that either failed the initial threshold or exceed the stepwise score by ≥ 10 points. Codes with unlinked nodes (“Orphan” codes) represent version-specific entries that did not meet the minimum match criteria in either strategy and are indicated by a pink node with text indicating the ICD version(s) to which it is unique. Light Blue Nodes: ICD-9, Dark Blue Nodes: ICD-10, and Yellow Nodes: ICD-11</a:t>
            </a:r>
          </a:p>
        </p:txBody>
      </p:sp>
    </p:spTree>
    <p:extLst>
      <p:ext uri="{BB962C8B-B14F-4D97-AF65-F5344CB8AC3E}">
        <p14:creationId xmlns:p14="http://schemas.microsoft.com/office/powerpoint/2010/main" val="177677517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91DD3C-74C2-CE26-0F20-AE5A421371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TextBox 18">
            <a:extLst>
              <a:ext uri="{FF2B5EF4-FFF2-40B4-BE49-F238E27FC236}">
                <a16:creationId xmlns:a16="http://schemas.microsoft.com/office/drawing/2014/main" id="{C9AA07A7-E8E0-22CF-3C17-5EEBCE7F494E}"/>
              </a:ext>
            </a:extLst>
          </p:cNvPr>
          <p:cNvSpPr txBox="1"/>
          <p:nvPr/>
        </p:nvSpPr>
        <p:spPr>
          <a:xfrm>
            <a:off x="0" y="244891"/>
            <a:ext cx="537327" cy="25359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48" b="1" dirty="0">
                <a:latin typeface="Arial" panose="020B0604020202020204" pitchFamily="34" charset="0"/>
                <a:cs typeface="Arial" panose="020B0604020202020204" pitchFamily="34" charset="0"/>
              </a:rPr>
              <a:t>ICD-9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C75B1B57-7123-82CC-1E1E-37A93F516F2E}"/>
              </a:ext>
            </a:extLst>
          </p:cNvPr>
          <p:cNvSpPr txBox="1"/>
          <p:nvPr/>
        </p:nvSpPr>
        <p:spPr>
          <a:xfrm>
            <a:off x="3300836" y="253596"/>
            <a:ext cx="612668" cy="25359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48" b="1" dirty="0">
                <a:latin typeface="Arial" panose="020B0604020202020204" pitchFamily="34" charset="0"/>
                <a:cs typeface="Arial" panose="020B0604020202020204" pitchFamily="34" charset="0"/>
              </a:rPr>
              <a:t>ICD-10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B1B5F5E3-FDE3-63B1-BE73-A0AD83786679}"/>
              </a:ext>
            </a:extLst>
          </p:cNvPr>
          <p:cNvSpPr txBox="1"/>
          <p:nvPr/>
        </p:nvSpPr>
        <p:spPr>
          <a:xfrm>
            <a:off x="6646191" y="244891"/>
            <a:ext cx="612668" cy="25359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48" b="1" dirty="0">
                <a:latin typeface="Arial" panose="020B0604020202020204" pitchFamily="34" charset="0"/>
                <a:cs typeface="Arial" panose="020B0604020202020204" pitchFamily="34" charset="0"/>
              </a:rPr>
              <a:t>ICD-11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09303645-09F1-5DE0-8F02-6906A0110631}"/>
              </a:ext>
            </a:extLst>
          </p:cNvPr>
          <p:cNvSpPr txBox="1"/>
          <p:nvPr/>
        </p:nvSpPr>
        <p:spPr>
          <a:xfrm>
            <a:off x="3633625" y="0"/>
            <a:ext cx="2589170" cy="25359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48" b="1" dirty="0">
                <a:latin typeface="Arial" panose="020B0604020202020204" pitchFamily="34" charset="0"/>
                <a:cs typeface="Arial" panose="020B0604020202020204" pitchFamily="34" charset="0"/>
              </a:rPr>
              <a:t>Forward Mapping Candida ICD Codes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8DBC88C9-9EF6-466C-FC90-B23B9DBA4CF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507192"/>
            <a:ext cx="10058400" cy="3621024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AE539F8D-EF17-5841-2C2C-9FAD451E01E9}"/>
              </a:ext>
            </a:extLst>
          </p:cNvPr>
          <p:cNvSpPr txBox="1"/>
          <p:nvPr/>
        </p:nvSpPr>
        <p:spPr>
          <a:xfrm>
            <a:off x="-1" y="4136921"/>
            <a:ext cx="10058401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b="1" dirty="0">
                <a:latin typeface="Arial" panose="020B0604020202020204" pitchFamily="34" charset="0"/>
                <a:cs typeface="Arial" panose="020B0604020202020204" pitchFamily="34" charset="0"/>
              </a:rPr>
              <a:t>Supplemental Figure 5. Candida ICD Code Mapping: Best Match Forward Sankey Network</a:t>
            </a:r>
          </a:p>
          <a:p>
            <a:r>
              <a:rPr lang="en-US" sz="1000" dirty="0">
                <a:latin typeface="Arial" panose="020B0604020202020204" pitchFamily="34" charset="0"/>
                <a:cs typeface="Arial" panose="020B0604020202020204" pitchFamily="34" charset="0"/>
              </a:rPr>
              <a:t>Nodes represent individual ICD codes across versions (ICD-9, -10, -11), connected by links indicating mapping pairs with the highest match score, with ties. Primary mapping utilized a stepwise strategy requiring a minimum cumulative match score of 45 out of 100 points. To capture complex relationships, a “skip-link” strategy was employed for pairs that either failed the initial threshold or exceed the stepwise score by ≥ 10 points. Codes with unlinked nodes (“Orphan” codes) represent version-specific entries that did not meet the minimum match criteria in either strategy and are indicated by a pink node with text indicating the ICD version(s) to which it is unique. Light Blue Nodes: ICD-9, Dark Blue Nodes: ICD-10, and Yellow Nodes: ICD-11</a:t>
            </a:r>
          </a:p>
        </p:txBody>
      </p:sp>
    </p:spTree>
    <p:extLst>
      <p:ext uri="{BB962C8B-B14F-4D97-AF65-F5344CB8AC3E}">
        <p14:creationId xmlns:p14="http://schemas.microsoft.com/office/powerpoint/2010/main" val="174925554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EA35B5-F2BE-A08A-5313-139E8F6238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TextBox 18">
            <a:extLst>
              <a:ext uri="{FF2B5EF4-FFF2-40B4-BE49-F238E27FC236}">
                <a16:creationId xmlns:a16="http://schemas.microsoft.com/office/drawing/2014/main" id="{C7858A3A-914E-4837-EB25-A51073B26D7B}"/>
              </a:ext>
            </a:extLst>
          </p:cNvPr>
          <p:cNvSpPr txBox="1"/>
          <p:nvPr/>
        </p:nvSpPr>
        <p:spPr>
          <a:xfrm>
            <a:off x="0" y="244891"/>
            <a:ext cx="612668" cy="25359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48" b="1" dirty="0">
                <a:latin typeface="Arial" panose="020B0604020202020204" pitchFamily="34" charset="0"/>
                <a:cs typeface="Arial" panose="020B0604020202020204" pitchFamily="34" charset="0"/>
              </a:rPr>
              <a:t>ICD-11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36C39CCA-24FA-EFED-EFB3-ACBA1EE22EED}"/>
              </a:ext>
            </a:extLst>
          </p:cNvPr>
          <p:cNvSpPr txBox="1"/>
          <p:nvPr/>
        </p:nvSpPr>
        <p:spPr>
          <a:xfrm>
            <a:off x="3300836" y="253596"/>
            <a:ext cx="612668" cy="25359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48" b="1" dirty="0">
                <a:latin typeface="Arial" panose="020B0604020202020204" pitchFamily="34" charset="0"/>
                <a:cs typeface="Arial" panose="020B0604020202020204" pitchFamily="34" charset="0"/>
              </a:rPr>
              <a:t>ICD-10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DC8F7579-5347-B375-193E-57114E77CE80}"/>
              </a:ext>
            </a:extLst>
          </p:cNvPr>
          <p:cNvSpPr txBox="1"/>
          <p:nvPr/>
        </p:nvSpPr>
        <p:spPr>
          <a:xfrm>
            <a:off x="6646191" y="244891"/>
            <a:ext cx="537327" cy="25359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48" b="1" dirty="0">
                <a:latin typeface="Arial" panose="020B0604020202020204" pitchFamily="34" charset="0"/>
                <a:cs typeface="Arial" panose="020B0604020202020204" pitchFamily="34" charset="0"/>
              </a:rPr>
              <a:t>ICD-9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E2B58F53-869B-58B9-6B35-62B217F644B5}"/>
              </a:ext>
            </a:extLst>
          </p:cNvPr>
          <p:cNvSpPr txBox="1"/>
          <p:nvPr/>
        </p:nvSpPr>
        <p:spPr>
          <a:xfrm>
            <a:off x="3633625" y="0"/>
            <a:ext cx="2585964" cy="25359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48" b="1" dirty="0">
                <a:latin typeface="Arial" panose="020B0604020202020204" pitchFamily="34" charset="0"/>
                <a:cs typeface="Arial" panose="020B0604020202020204" pitchFamily="34" charset="0"/>
              </a:rPr>
              <a:t>Reverse Mapping Candida ICD Codes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8E3B7D8-6CE8-8900-0167-3BC6E97D1A1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498487"/>
            <a:ext cx="10058400" cy="5029200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FA3AC6F1-885C-8186-00B0-813DFE7AC388}"/>
              </a:ext>
            </a:extLst>
          </p:cNvPr>
          <p:cNvSpPr txBox="1"/>
          <p:nvPr/>
        </p:nvSpPr>
        <p:spPr>
          <a:xfrm>
            <a:off x="0" y="6766081"/>
            <a:ext cx="10058401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b="1" dirty="0">
                <a:latin typeface="Arial" panose="020B0604020202020204" pitchFamily="34" charset="0"/>
                <a:cs typeface="Arial" panose="020B0604020202020204" pitchFamily="34" charset="0"/>
              </a:rPr>
              <a:t>Supplemental Figure 6. Candida ICD Code Mapping: Best Match Reverse Sankey Network</a:t>
            </a:r>
          </a:p>
          <a:p>
            <a:r>
              <a:rPr lang="en-US" sz="1000" dirty="0">
                <a:latin typeface="Arial" panose="020B0604020202020204" pitchFamily="34" charset="0"/>
                <a:cs typeface="Arial" panose="020B0604020202020204" pitchFamily="34" charset="0"/>
              </a:rPr>
              <a:t>Nodes represent individual ICD codes across versions (ICD-11, -10, -9), connected by links indicating mapping pairs with the highest match score, with ties. Primary mapping utilized a stepwise strategy requiring a minimum cumulative match score of 45 out of 100 points. To capture complex relationships, a “skip-link” strategy was employed for pairs that either failed the initial threshold or exceed the stepwise score by ≥ 10 points. Codes with unlinked nodes (“Orphan” codes) represent version-specific entries that did not meet the minimum match criteria in either strategy and are indicated by a pink node with text indicating the ICD version(s) to which it is unique. Light Blue Nodes: ICD-9, Dark Blue Nodes: ICD-10, and Yellow Nodes: ICD-11</a:t>
            </a:r>
          </a:p>
        </p:txBody>
      </p:sp>
    </p:spTree>
    <p:extLst>
      <p:ext uri="{BB962C8B-B14F-4D97-AF65-F5344CB8AC3E}">
        <p14:creationId xmlns:p14="http://schemas.microsoft.com/office/powerpoint/2010/main" val="283184767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FDEDEF-0121-D93F-78B7-55A632974C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TextBox 18">
            <a:extLst>
              <a:ext uri="{FF2B5EF4-FFF2-40B4-BE49-F238E27FC236}">
                <a16:creationId xmlns:a16="http://schemas.microsoft.com/office/drawing/2014/main" id="{A6E1FB04-145D-7DED-42FD-3F9F7C6777D8}"/>
              </a:ext>
            </a:extLst>
          </p:cNvPr>
          <p:cNvSpPr txBox="1"/>
          <p:nvPr/>
        </p:nvSpPr>
        <p:spPr>
          <a:xfrm>
            <a:off x="0" y="244891"/>
            <a:ext cx="537327" cy="25359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48" b="1" dirty="0">
                <a:latin typeface="Arial" panose="020B0604020202020204" pitchFamily="34" charset="0"/>
                <a:cs typeface="Arial" panose="020B0604020202020204" pitchFamily="34" charset="0"/>
              </a:rPr>
              <a:t>ICD-9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83527753-F196-DB08-EF76-CBBAA79E979B}"/>
              </a:ext>
            </a:extLst>
          </p:cNvPr>
          <p:cNvSpPr txBox="1"/>
          <p:nvPr/>
        </p:nvSpPr>
        <p:spPr>
          <a:xfrm>
            <a:off x="3300836" y="253596"/>
            <a:ext cx="612668" cy="25359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48" b="1" dirty="0">
                <a:latin typeface="Arial" panose="020B0604020202020204" pitchFamily="34" charset="0"/>
                <a:cs typeface="Arial" panose="020B0604020202020204" pitchFamily="34" charset="0"/>
              </a:rPr>
              <a:t>ICD-10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BAE2B363-92B5-988C-F86F-BA4365C6757B}"/>
              </a:ext>
            </a:extLst>
          </p:cNvPr>
          <p:cNvSpPr txBox="1"/>
          <p:nvPr/>
        </p:nvSpPr>
        <p:spPr>
          <a:xfrm>
            <a:off x="6646191" y="244891"/>
            <a:ext cx="612668" cy="25359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48" b="1" dirty="0">
                <a:latin typeface="Arial" panose="020B0604020202020204" pitchFamily="34" charset="0"/>
                <a:cs typeface="Arial" panose="020B0604020202020204" pitchFamily="34" charset="0"/>
              </a:rPr>
              <a:t>ICD-11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7CE4F670-1D1F-299B-9702-1E4EAF15B7D4}"/>
              </a:ext>
            </a:extLst>
          </p:cNvPr>
          <p:cNvSpPr txBox="1"/>
          <p:nvPr/>
        </p:nvSpPr>
        <p:spPr>
          <a:xfrm>
            <a:off x="0" y="4177255"/>
            <a:ext cx="612668" cy="25359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48" b="1" dirty="0">
                <a:latin typeface="Arial" panose="020B0604020202020204" pitchFamily="34" charset="0"/>
                <a:cs typeface="Arial" panose="020B0604020202020204" pitchFamily="34" charset="0"/>
              </a:rPr>
              <a:t>ICD-11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D3BA377D-968E-0E30-8646-22F967C2016D}"/>
              </a:ext>
            </a:extLst>
          </p:cNvPr>
          <p:cNvSpPr txBox="1"/>
          <p:nvPr/>
        </p:nvSpPr>
        <p:spPr>
          <a:xfrm>
            <a:off x="3300836" y="4191246"/>
            <a:ext cx="612668" cy="25359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48" b="1" dirty="0">
                <a:latin typeface="Arial" panose="020B0604020202020204" pitchFamily="34" charset="0"/>
                <a:cs typeface="Arial" panose="020B0604020202020204" pitchFamily="34" charset="0"/>
              </a:rPr>
              <a:t>ICD-10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DCEC1D7E-F360-A91D-B566-A07569086AB4}"/>
              </a:ext>
            </a:extLst>
          </p:cNvPr>
          <p:cNvSpPr txBox="1"/>
          <p:nvPr/>
        </p:nvSpPr>
        <p:spPr>
          <a:xfrm>
            <a:off x="6646191" y="4191246"/>
            <a:ext cx="537327" cy="25359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48" b="1" dirty="0">
                <a:latin typeface="Arial" panose="020B0604020202020204" pitchFamily="34" charset="0"/>
                <a:cs typeface="Arial" panose="020B0604020202020204" pitchFamily="34" charset="0"/>
              </a:rPr>
              <a:t>ICD-9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79176771-E4D0-1462-B475-26A77AD89183}"/>
              </a:ext>
            </a:extLst>
          </p:cNvPr>
          <p:cNvSpPr txBox="1"/>
          <p:nvPr/>
        </p:nvSpPr>
        <p:spPr>
          <a:xfrm>
            <a:off x="3633625" y="0"/>
            <a:ext cx="2895344" cy="25359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48" b="1" dirty="0">
                <a:latin typeface="Arial" panose="020B0604020202020204" pitchFamily="34" charset="0"/>
                <a:cs typeface="Arial" panose="020B0604020202020204" pitchFamily="34" charset="0"/>
              </a:rPr>
              <a:t>Forward Mapping Coccidioides ICD Codes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5F95E6D2-AF98-FBA4-A11E-301DBF7C09DF}"/>
              </a:ext>
            </a:extLst>
          </p:cNvPr>
          <p:cNvSpPr txBox="1"/>
          <p:nvPr/>
        </p:nvSpPr>
        <p:spPr>
          <a:xfrm>
            <a:off x="3607170" y="3923659"/>
            <a:ext cx="2892138" cy="25359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48" b="1" dirty="0">
                <a:latin typeface="Arial" panose="020B0604020202020204" pitchFamily="34" charset="0"/>
                <a:cs typeface="Arial" panose="020B0604020202020204" pitchFamily="34" charset="0"/>
              </a:rPr>
              <a:t>Reverse Mapping Coccidioides ICD Codes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9CA2DCA4-494C-FC36-C7F3-DA3F38E5DFD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437862"/>
            <a:ext cx="10058400" cy="2212848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A7698801-5454-3E0D-0E60-93322FDB80A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4366843"/>
            <a:ext cx="10058400" cy="2514600"/>
          </a:xfrm>
          <a:prstGeom prst="rect">
            <a:avLst/>
          </a:prstGeom>
        </p:spPr>
      </p:pic>
      <p:sp>
        <p:nvSpPr>
          <p:cNvPr id="26" name="TextBox 25">
            <a:extLst>
              <a:ext uri="{FF2B5EF4-FFF2-40B4-BE49-F238E27FC236}">
                <a16:creationId xmlns:a16="http://schemas.microsoft.com/office/drawing/2014/main" id="{89282B6C-AFEC-41B3-2A33-9C92B084E28D}"/>
              </a:ext>
            </a:extLst>
          </p:cNvPr>
          <p:cNvSpPr txBox="1"/>
          <p:nvPr/>
        </p:nvSpPr>
        <p:spPr>
          <a:xfrm>
            <a:off x="0" y="2530211"/>
            <a:ext cx="10058401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b="1" dirty="0">
                <a:latin typeface="Arial" panose="020B0604020202020204" pitchFamily="34" charset="0"/>
                <a:cs typeface="Arial" panose="020B0604020202020204" pitchFamily="34" charset="0"/>
              </a:rPr>
              <a:t>Supplemental Figure 7. Coccidioides ICD Code Mapping: Best Match Forward Sankey Network</a:t>
            </a:r>
          </a:p>
          <a:p>
            <a:r>
              <a:rPr lang="en-US" sz="1000" dirty="0">
                <a:latin typeface="Arial" panose="020B0604020202020204" pitchFamily="34" charset="0"/>
                <a:cs typeface="Arial" panose="020B0604020202020204" pitchFamily="34" charset="0"/>
              </a:rPr>
              <a:t>Nodes represent individual ICD codes across versions (ICD-9, -10, -11), connected by links indicating mapping pairs with the highest match score, with ties. Primary mapping utilized a stepwise strategy requiring a minimum cumulative match score of 45 out of 100 points. To capture complex relationships, a “skip-link” strategy was employed for pairs that either failed the initial threshold or exceed the stepwise score by ≥ 10 points. Codes with unlinked nodes (“Orphan” codes) represent version-specific entries that did not meet the minimum match criteria in either strategy and are indicated by a pink node with text indicating the ICD version(s) to which it is unique. Light Blue Nodes: ICD-9, Dark Blue Nodes: ICD-10, and Yellow Nodes: ICD-11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EF645297-9463-730A-8810-C0F581FFAE77}"/>
              </a:ext>
            </a:extLst>
          </p:cNvPr>
          <p:cNvSpPr txBox="1"/>
          <p:nvPr/>
        </p:nvSpPr>
        <p:spPr>
          <a:xfrm>
            <a:off x="0" y="6766081"/>
            <a:ext cx="10058401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b="1" dirty="0">
                <a:latin typeface="Arial" panose="020B0604020202020204" pitchFamily="34" charset="0"/>
                <a:cs typeface="Arial" panose="020B0604020202020204" pitchFamily="34" charset="0"/>
              </a:rPr>
              <a:t>Supplemental Figure 8. Coccidioides ICD Code Mapping: Best Match Reverse Sankey Network</a:t>
            </a:r>
          </a:p>
          <a:p>
            <a:r>
              <a:rPr lang="en-US" sz="1000" dirty="0">
                <a:latin typeface="Arial" panose="020B0604020202020204" pitchFamily="34" charset="0"/>
                <a:cs typeface="Arial" panose="020B0604020202020204" pitchFamily="34" charset="0"/>
              </a:rPr>
              <a:t>Nodes represent individual ICD codes across versions (ICD-11, -10, -9), connected by links indicating mapping pairs with the highest match score, with ties. Primary mapping utilized a stepwise strategy requiring a minimum cumulative match score of 45 out of 100 points. To capture complex relationships, a “skip-link” strategy was employed for pairs that either failed the initial threshold or exceed the stepwise score by ≥ 10 points. Codes with unlinked nodes (“Orphan” codes) represent version-specific entries that did not meet the minimum match criteria in either strategy and are indicated by a pink node with text indicating the ICD version(s) to which it is unique. Light Blue Nodes: ICD-9, Dark Blue Nodes: ICD-10, and Yellow Nodes: ICD-11</a:t>
            </a:r>
          </a:p>
        </p:txBody>
      </p:sp>
    </p:spTree>
    <p:extLst>
      <p:ext uri="{BB962C8B-B14F-4D97-AF65-F5344CB8AC3E}">
        <p14:creationId xmlns:p14="http://schemas.microsoft.com/office/powerpoint/2010/main" val="235596620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9057F1-2D89-EF1F-4A25-B27BE8600C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TextBox 18">
            <a:extLst>
              <a:ext uri="{FF2B5EF4-FFF2-40B4-BE49-F238E27FC236}">
                <a16:creationId xmlns:a16="http://schemas.microsoft.com/office/drawing/2014/main" id="{6C716192-2E42-20BF-B0FD-26E835FCD7AB}"/>
              </a:ext>
            </a:extLst>
          </p:cNvPr>
          <p:cNvSpPr txBox="1"/>
          <p:nvPr/>
        </p:nvSpPr>
        <p:spPr>
          <a:xfrm>
            <a:off x="0" y="244891"/>
            <a:ext cx="537327" cy="25359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48" b="1" dirty="0">
                <a:latin typeface="Arial" panose="020B0604020202020204" pitchFamily="34" charset="0"/>
                <a:cs typeface="Arial" panose="020B0604020202020204" pitchFamily="34" charset="0"/>
              </a:rPr>
              <a:t>ICD-9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C086513B-DFE6-5300-E690-FC25B036BCE9}"/>
              </a:ext>
            </a:extLst>
          </p:cNvPr>
          <p:cNvSpPr txBox="1"/>
          <p:nvPr/>
        </p:nvSpPr>
        <p:spPr>
          <a:xfrm>
            <a:off x="3300836" y="253596"/>
            <a:ext cx="612668" cy="25359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48" b="1" dirty="0">
                <a:latin typeface="Arial" panose="020B0604020202020204" pitchFamily="34" charset="0"/>
                <a:cs typeface="Arial" panose="020B0604020202020204" pitchFamily="34" charset="0"/>
              </a:rPr>
              <a:t>ICD-10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5A666B42-3169-2235-BF99-6DAE81728F72}"/>
              </a:ext>
            </a:extLst>
          </p:cNvPr>
          <p:cNvSpPr txBox="1"/>
          <p:nvPr/>
        </p:nvSpPr>
        <p:spPr>
          <a:xfrm>
            <a:off x="6646191" y="244891"/>
            <a:ext cx="612668" cy="25359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48" b="1" dirty="0">
                <a:latin typeface="Arial" panose="020B0604020202020204" pitchFamily="34" charset="0"/>
                <a:cs typeface="Arial" panose="020B0604020202020204" pitchFamily="34" charset="0"/>
              </a:rPr>
              <a:t>ICD-11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AD9E86B8-3F21-A82E-90D3-087174BE1FBF}"/>
              </a:ext>
            </a:extLst>
          </p:cNvPr>
          <p:cNvSpPr txBox="1"/>
          <p:nvPr/>
        </p:nvSpPr>
        <p:spPr>
          <a:xfrm>
            <a:off x="-1" y="4659832"/>
            <a:ext cx="612668" cy="25359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48" b="1" dirty="0">
                <a:latin typeface="Arial" panose="020B0604020202020204" pitchFamily="34" charset="0"/>
                <a:cs typeface="Arial" panose="020B0604020202020204" pitchFamily="34" charset="0"/>
              </a:rPr>
              <a:t>ICD-11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5504E0C1-B214-2152-509F-B528B4B19654}"/>
              </a:ext>
            </a:extLst>
          </p:cNvPr>
          <p:cNvSpPr txBox="1"/>
          <p:nvPr/>
        </p:nvSpPr>
        <p:spPr>
          <a:xfrm>
            <a:off x="3300835" y="4673823"/>
            <a:ext cx="612668" cy="25359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48" b="1" dirty="0">
                <a:latin typeface="Arial" panose="020B0604020202020204" pitchFamily="34" charset="0"/>
                <a:cs typeface="Arial" panose="020B0604020202020204" pitchFamily="34" charset="0"/>
              </a:rPr>
              <a:t>ICD-10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9EEB7937-4D1C-3344-A996-958750A34FB8}"/>
              </a:ext>
            </a:extLst>
          </p:cNvPr>
          <p:cNvSpPr txBox="1"/>
          <p:nvPr/>
        </p:nvSpPr>
        <p:spPr>
          <a:xfrm>
            <a:off x="6646190" y="4673823"/>
            <a:ext cx="537327" cy="25359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48" b="1" dirty="0">
                <a:latin typeface="Arial" panose="020B0604020202020204" pitchFamily="34" charset="0"/>
                <a:cs typeface="Arial" panose="020B0604020202020204" pitchFamily="34" charset="0"/>
              </a:rPr>
              <a:t>ICD-9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B7CE2CB6-CA63-FB11-F03D-CFC185986711}"/>
              </a:ext>
            </a:extLst>
          </p:cNvPr>
          <p:cNvSpPr txBox="1"/>
          <p:nvPr/>
        </p:nvSpPr>
        <p:spPr>
          <a:xfrm>
            <a:off x="3633625" y="0"/>
            <a:ext cx="2957861" cy="25359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48" b="1" dirty="0">
                <a:latin typeface="Arial" panose="020B0604020202020204" pitchFamily="34" charset="0"/>
                <a:cs typeface="Arial" panose="020B0604020202020204" pitchFamily="34" charset="0"/>
              </a:rPr>
              <a:t>Forward Mapping Cryptococcus ICD Codes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371E887F-FA29-3AE5-9F25-6B9A6FAEA684}"/>
              </a:ext>
            </a:extLst>
          </p:cNvPr>
          <p:cNvSpPr txBox="1"/>
          <p:nvPr/>
        </p:nvSpPr>
        <p:spPr>
          <a:xfrm>
            <a:off x="3607169" y="4406236"/>
            <a:ext cx="2954655" cy="25359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48" b="1" dirty="0">
                <a:latin typeface="Arial" panose="020B0604020202020204" pitchFamily="34" charset="0"/>
                <a:cs typeface="Arial" panose="020B0604020202020204" pitchFamily="34" charset="0"/>
              </a:rPr>
              <a:t>Reverse Mapping Cryptococcus ICD Codes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5153F5D6-13C0-73F9-ED76-B09A258F7E2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498487"/>
            <a:ext cx="10058400" cy="1629461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1CBFF060-DF01-0346-D32A-513E549683A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1" y="4849420"/>
            <a:ext cx="10058400" cy="1911096"/>
          </a:xfrm>
          <a:prstGeom prst="rect">
            <a:avLst/>
          </a:prstGeom>
        </p:spPr>
      </p:pic>
      <p:sp>
        <p:nvSpPr>
          <p:cNvPr id="54" name="TextBox 53">
            <a:extLst>
              <a:ext uri="{FF2B5EF4-FFF2-40B4-BE49-F238E27FC236}">
                <a16:creationId xmlns:a16="http://schemas.microsoft.com/office/drawing/2014/main" id="{03446510-7B3B-C225-C05C-3041EF8B3F0C}"/>
              </a:ext>
            </a:extLst>
          </p:cNvPr>
          <p:cNvSpPr txBox="1"/>
          <p:nvPr/>
        </p:nvSpPr>
        <p:spPr>
          <a:xfrm>
            <a:off x="-1" y="2166122"/>
            <a:ext cx="10058401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b="1" dirty="0">
                <a:latin typeface="Arial" panose="020B0604020202020204" pitchFamily="34" charset="0"/>
                <a:cs typeface="Arial" panose="020B0604020202020204" pitchFamily="34" charset="0"/>
              </a:rPr>
              <a:t>Supplemental Figure 9. Cryptococcus ICD Code Mapping: Best Match Forward Sankey Network</a:t>
            </a:r>
          </a:p>
          <a:p>
            <a:r>
              <a:rPr lang="en-US" sz="1000" dirty="0">
                <a:latin typeface="Arial" panose="020B0604020202020204" pitchFamily="34" charset="0"/>
                <a:cs typeface="Arial" panose="020B0604020202020204" pitchFamily="34" charset="0"/>
              </a:rPr>
              <a:t>Nodes represent individual ICD codes across versions (ICD-9, -10, -11), connected by links indicating mapping pairs with the highest match score, with ties. Primary mapping utilized a stepwise strategy requiring a minimum cumulative match score of 45 out of 100 points. To capture complex relationships, a “skip-link” strategy was employed for pairs that either failed the initial threshold or exceed the stepwise score by ≥ 10 points. Codes with unlinked nodes (“Orphan” codes) represent version-specific entries that did not meet the minimum match criteria in either strategy and are indicated by a pink node with text indicating the ICD version(s) to which it is unique. Light Blue Nodes: ICD-9, Dark Blue Nodes: ICD-10, and Yellow Nodes: ICD-11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1A6487FE-D707-F019-93E4-524407C041FE}"/>
              </a:ext>
            </a:extLst>
          </p:cNvPr>
          <p:cNvSpPr txBox="1"/>
          <p:nvPr/>
        </p:nvSpPr>
        <p:spPr>
          <a:xfrm>
            <a:off x="0" y="6766081"/>
            <a:ext cx="10058401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b="1" dirty="0">
                <a:latin typeface="Arial" panose="020B0604020202020204" pitchFamily="34" charset="0"/>
                <a:cs typeface="Arial" panose="020B0604020202020204" pitchFamily="34" charset="0"/>
              </a:rPr>
              <a:t>Supplemental Figure 10. Cryptococcus ICD Code Mapping: Best Match Reverse Sankey Network</a:t>
            </a:r>
          </a:p>
          <a:p>
            <a:r>
              <a:rPr lang="en-US" sz="1000" dirty="0">
                <a:latin typeface="Arial" panose="020B0604020202020204" pitchFamily="34" charset="0"/>
                <a:cs typeface="Arial" panose="020B0604020202020204" pitchFamily="34" charset="0"/>
              </a:rPr>
              <a:t>Nodes represent individual ICD codes across versions (ICD-11, -10, -9), connected by links indicating mapping pairs with the highest match score, with ties. Primary mapping utilized a stepwise strategy requiring a minimum cumulative match score of 45 out of 100 points. To capture complex relationships, a “skip-link” strategy was employed for pairs that either failed the initial threshold or exceed the stepwise score by ≥ 10 points. Codes with unlinked nodes (“Orphan” codes) represent version-specific entries that did not meet the minimum match criteria in either strategy and are indicated by a pink node with text indicating the ICD version(s) to which it is unique. Light Blue Nodes: ICD-9, Dark Blue Nodes: ICD-10, and Yellow Nodes: ICD-11</a:t>
            </a:r>
          </a:p>
        </p:txBody>
      </p:sp>
    </p:spTree>
    <p:extLst>
      <p:ext uri="{BB962C8B-B14F-4D97-AF65-F5344CB8AC3E}">
        <p14:creationId xmlns:p14="http://schemas.microsoft.com/office/powerpoint/2010/main" val="98735204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13106E-10F5-91AD-41B6-028C3F1E3C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TextBox 18">
            <a:extLst>
              <a:ext uri="{FF2B5EF4-FFF2-40B4-BE49-F238E27FC236}">
                <a16:creationId xmlns:a16="http://schemas.microsoft.com/office/drawing/2014/main" id="{0B2C0A76-A3D6-B6B6-EA10-B63B29E439E1}"/>
              </a:ext>
            </a:extLst>
          </p:cNvPr>
          <p:cNvSpPr txBox="1"/>
          <p:nvPr/>
        </p:nvSpPr>
        <p:spPr>
          <a:xfrm>
            <a:off x="0" y="118427"/>
            <a:ext cx="537327" cy="25359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48" b="1" dirty="0">
                <a:latin typeface="Arial" panose="020B0604020202020204" pitchFamily="34" charset="0"/>
                <a:cs typeface="Arial" panose="020B0604020202020204" pitchFamily="34" charset="0"/>
              </a:rPr>
              <a:t>ICD-9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56748E3C-1127-B1C3-77DB-46F013E64C91}"/>
              </a:ext>
            </a:extLst>
          </p:cNvPr>
          <p:cNvSpPr txBox="1"/>
          <p:nvPr/>
        </p:nvSpPr>
        <p:spPr>
          <a:xfrm>
            <a:off x="3698871" y="127132"/>
            <a:ext cx="612668" cy="25359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48" b="1" dirty="0">
                <a:latin typeface="Arial" panose="020B0604020202020204" pitchFamily="34" charset="0"/>
                <a:cs typeface="Arial" panose="020B0604020202020204" pitchFamily="34" charset="0"/>
              </a:rPr>
              <a:t>ICD-10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44CC885A-8219-A3EA-FFF0-322D6D622AFD}"/>
              </a:ext>
            </a:extLst>
          </p:cNvPr>
          <p:cNvSpPr txBox="1"/>
          <p:nvPr/>
        </p:nvSpPr>
        <p:spPr>
          <a:xfrm>
            <a:off x="7420747" y="118427"/>
            <a:ext cx="612668" cy="25359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48" b="1" dirty="0">
                <a:latin typeface="Arial" panose="020B0604020202020204" pitchFamily="34" charset="0"/>
                <a:cs typeface="Arial" panose="020B0604020202020204" pitchFamily="34" charset="0"/>
              </a:rPr>
              <a:t>ICD-11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C65CDC4C-FA5E-7979-F544-D43246E658EA}"/>
              </a:ext>
            </a:extLst>
          </p:cNvPr>
          <p:cNvSpPr txBox="1"/>
          <p:nvPr/>
        </p:nvSpPr>
        <p:spPr>
          <a:xfrm>
            <a:off x="-1" y="5039968"/>
            <a:ext cx="612668" cy="25359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48" b="1" dirty="0">
                <a:latin typeface="Arial" panose="020B0604020202020204" pitchFamily="34" charset="0"/>
                <a:cs typeface="Arial" panose="020B0604020202020204" pitchFamily="34" charset="0"/>
              </a:rPr>
              <a:t>ICD-11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55673583-0E7F-3F19-DCA0-E7ACF903E572}"/>
              </a:ext>
            </a:extLst>
          </p:cNvPr>
          <p:cNvSpPr txBox="1"/>
          <p:nvPr/>
        </p:nvSpPr>
        <p:spPr>
          <a:xfrm>
            <a:off x="3061686" y="5053959"/>
            <a:ext cx="612668" cy="25359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48" b="1" dirty="0">
                <a:latin typeface="Arial" panose="020B0604020202020204" pitchFamily="34" charset="0"/>
                <a:cs typeface="Arial" panose="020B0604020202020204" pitchFamily="34" charset="0"/>
              </a:rPr>
              <a:t>ICD-10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F0861647-FFF0-33BE-4CB3-C1D94B91390D}"/>
              </a:ext>
            </a:extLst>
          </p:cNvPr>
          <p:cNvSpPr txBox="1"/>
          <p:nvPr/>
        </p:nvSpPr>
        <p:spPr>
          <a:xfrm>
            <a:off x="6153821" y="5053959"/>
            <a:ext cx="537327" cy="25359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48" b="1" dirty="0">
                <a:latin typeface="Arial" panose="020B0604020202020204" pitchFamily="34" charset="0"/>
                <a:cs typeface="Arial" panose="020B0604020202020204" pitchFamily="34" charset="0"/>
              </a:rPr>
              <a:t>ICD-9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447426C3-146F-7603-BB81-FDC4DD7AA3BB}"/>
              </a:ext>
            </a:extLst>
          </p:cNvPr>
          <p:cNvSpPr txBox="1"/>
          <p:nvPr/>
        </p:nvSpPr>
        <p:spPr>
          <a:xfrm>
            <a:off x="3633625" y="0"/>
            <a:ext cx="2860078" cy="25359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48" b="1" dirty="0">
                <a:latin typeface="Arial" panose="020B0604020202020204" pitchFamily="34" charset="0"/>
                <a:cs typeface="Arial" panose="020B0604020202020204" pitchFamily="34" charset="0"/>
              </a:rPr>
              <a:t>Forward Mapping Histoplasma ICD Codes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9B8C849D-FDCB-69A0-39B9-39189FDBE3B3}"/>
              </a:ext>
            </a:extLst>
          </p:cNvPr>
          <p:cNvSpPr txBox="1"/>
          <p:nvPr/>
        </p:nvSpPr>
        <p:spPr>
          <a:xfrm>
            <a:off x="3607169" y="4903108"/>
            <a:ext cx="2856872" cy="25359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48" b="1" dirty="0">
                <a:latin typeface="Arial" panose="020B0604020202020204" pitchFamily="34" charset="0"/>
                <a:cs typeface="Arial" panose="020B0604020202020204" pitchFamily="34" charset="0"/>
              </a:rPr>
              <a:t>Reverse Mapping Histoplasma ICD Codes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997DDAB2-B602-6645-7F38-A7A5EABEF0BB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3986" b="3833"/>
          <a:stretch>
            <a:fillRect/>
          </a:stretch>
        </p:blipFill>
        <p:spPr>
          <a:xfrm>
            <a:off x="-3" y="313230"/>
            <a:ext cx="10058400" cy="3739662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420EC253-5D36-18FA-A1EB-9356F900DD7F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9764" b="9958"/>
          <a:stretch>
            <a:fillRect/>
          </a:stretch>
        </p:blipFill>
        <p:spPr>
          <a:xfrm>
            <a:off x="-1" y="5285749"/>
            <a:ext cx="10058400" cy="1480332"/>
          </a:xfrm>
          <a:prstGeom prst="rect">
            <a:avLst/>
          </a:prstGeom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46FE6E35-8786-28CB-6421-EDF9286E80BF}"/>
              </a:ext>
            </a:extLst>
          </p:cNvPr>
          <p:cNvSpPr txBox="1"/>
          <p:nvPr/>
        </p:nvSpPr>
        <p:spPr>
          <a:xfrm>
            <a:off x="-2" y="4024305"/>
            <a:ext cx="10058401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b="1" dirty="0">
                <a:latin typeface="Arial" panose="020B0604020202020204" pitchFamily="34" charset="0"/>
                <a:cs typeface="Arial" panose="020B0604020202020204" pitchFamily="34" charset="0"/>
              </a:rPr>
              <a:t>Supplemental Figure 11. Histoplasma ICD Code Mapping: Best Match Forward Sankey Network</a:t>
            </a:r>
          </a:p>
          <a:p>
            <a:r>
              <a:rPr lang="en-US" sz="1000" dirty="0">
                <a:latin typeface="Arial" panose="020B0604020202020204" pitchFamily="34" charset="0"/>
                <a:cs typeface="Arial" panose="020B0604020202020204" pitchFamily="34" charset="0"/>
              </a:rPr>
              <a:t>Nodes represent individual ICD codes across versions (ICD-9, -10, -11), connected by links indicating mapping pairs with the highest match score, with ties. Primary mapping utilized a stepwise strategy requiring a minimum cumulative match score of 45 out of 100 points. To capture complex relationships, a “skip-link” strategy was employed for pairs that either failed the initial threshold or exceed the stepwise score by ≥ 10 points. Codes with unlinked nodes (“Orphan” codes) represent version-specific entries that did not meet the minimum match criteria in either strategy and are indicated by a pink node with text indicating the ICD version(s) to which it is unique. Light Blue Nodes: ICD-9, Dark Blue Nodes: ICD-10, and Yellow Nodes: ICD-11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63B3BC38-4713-A7E1-AFC8-BB1F45097BC5}"/>
              </a:ext>
            </a:extLst>
          </p:cNvPr>
          <p:cNvSpPr txBox="1"/>
          <p:nvPr/>
        </p:nvSpPr>
        <p:spPr>
          <a:xfrm>
            <a:off x="0" y="6766081"/>
            <a:ext cx="10058401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b="1" dirty="0">
                <a:latin typeface="Arial" panose="020B0604020202020204" pitchFamily="34" charset="0"/>
                <a:cs typeface="Arial" panose="020B0604020202020204" pitchFamily="34" charset="0"/>
              </a:rPr>
              <a:t>Supplemental Figure 12. Histoplasma ICD Code Mapping: Best Match Reverse Sankey Network</a:t>
            </a:r>
          </a:p>
          <a:p>
            <a:r>
              <a:rPr lang="en-US" sz="1000" dirty="0">
                <a:latin typeface="Arial" panose="020B0604020202020204" pitchFamily="34" charset="0"/>
                <a:cs typeface="Arial" panose="020B0604020202020204" pitchFamily="34" charset="0"/>
              </a:rPr>
              <a:t>Nodes represent individual ICD codes across versions (ICD-11, -10, -9), connected by links indicating mapping pairs with the highest match score, with ties. Primary mapping utilized a stepwise strategy requiring a minimum cumulative match score of 45 out of 100 points. To capture complex relationships, a “skip-link” strategy was employed for pairs that either failed the initial threshold or exceed the stepwise score by ≥ 10 points. Codes with unlinked nodes (“Orphan” codes) represent version-specific entries that did not meet the minimum match criteria in either strategy and are indicated by a pink node with text indicating the ICD version(s) to which it is unique. Light Blue Nodes: ICD-9, Dark Blue Nodes: ICD-10, and Yellow Nodes: ICD-11</a:t>
            </a:r>
          </a:p>
        </p:txBody>
      </p:sp>
    </p:spTree>
    <p:extLst>
      <p:ext uri="{BB962C8B-B14F-4D97-AF65-F5344CB8AC3E}">
        <p14:creationId xmlns:p14="http://schemas.microsoft.com/office/powerpoint/2010/main" val="191217476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C4BEB6-EC03-33B0-7DD8-097F5C7F22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TextBox 18">
            <a:extLst>
              <a:ext uri="{FF2B5EF4-FFF2-40B4-BE49-F238E27FC236}">
                <a16:creationId xmlns:a16="http://schemas.microsoft.com/office/drawing/2014/main" id="{E51FECC0-47D7-02D3-FECF-6CD18BF30197}"/>
              </a:ext>
            </a:extLst>
          </p:cNvPr>
          <p:cNvSpPr txBox="1"/>
          <p:nvPr/>
        </p:nvSpPr>
        <p:spPr>
          <a:xfrm>
            <a:off x="0" y="244891"/>
            <a:ext cx="537327" cy="25359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48" b="1" dirty="0">
                <a:latin typeface="Arial" panose="020B0604020202020204" pitchFamily="34" charset="0"/>
                <a:cs typeface="Arial" panose="020B0604020202020204" pitchFamily="34" charset="0"/>
              </a:rPr>
              <a:t>ICD-9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DF6EE6DC-3E01-967B-2261-3B7CC1F4A04F}"/>
              </a:ext>
            </a:extLst>
          </p:cNvPr>
          <p:cNvSpPr txBox="1"/>
          <p:nvPr/>
        </p:nvSpPr>
        <p:spPr>
          <a:xfrm>
            <a:off x="3300836" y="253596"/>
            <a:ext cx="612668" cy="25359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48" b="1" dirty="0">
                <a:latin typeface="Arial" panose="020B0604020202020204" pitchFamily="34" charset="0"/>
                <a:cs typeface="Arial" panose="020B0604020202020204" pitchFamily="34" charset="0"/>
              </a:rPr>
              <a:t>ICD-10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B1501A4D-CDF6-984A-DD36-65C3735E03C5}"/>
              </a:ext>
            </a:extLst>
          </p:cNvPr>
          <p:cNvSpPr txBox="1"/>
          <p:nvPr/>
        </p:nvSpPr>
        <p:spPr>
          <a:xfrm>
            <a:off x="6646191" y="244891"/>
            <a:ext cx="612668" cy="25359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48" b="1" dirty="0">
                <a:latin typeface="Arial" panose="020B0604020202020204" pitchFamily="34" charset="0"/>
                <a:cs typeface="Arial" panose="020B0604020202020204" pitchFamily="34" charset="0"/>
              </a:rPr>
              <a:t>ICD-11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89965322-E7C5-6F3A-7322-E9A2253552CF}"/>
              </a:ext>
            </a:extLst>
          </p:cNvPr>
          <p:cNvSpPr txBox="1"/>
          <p:nvPr/>
        </p:nvSpPr>
        <p:spPr>
          <a:xfrm>
            <a:off x="-1" y="4662616"/>
            <a:ext cx="612668" cy="25359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48" b="1" dirty="0">
                <a:latin typeface="Arial" panose="020B0604020202020204" pitchFamily="34" charset="0"/>
                <a:cs typeface="Arial" panose="020B0604020202020204" pitchFamily="34" charset="0"/>
              </a:rPr>
              <a:t>ICD-11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99826BFD-EC13-8F6A-A460-DDFEFE574C70}"/>
              </a:ext>
            </a:extLst>
          </p:cNvPr>
          <p:cNvSpPr txBox="1"/>
          <p:nvPr/>
        </p:nvSpPr>
        <p:spPr>
          <a:xfrm>
            <a:off x="3300835" y="4676607"/>
            <a:ext cx="612668" cy="25359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48" b="1" dirty="0">
                <a:latin typeface="Arial" panose="020B0604020202020204" pitchFamily="34" charset="0"/>
                <a:cs typeface="Arial" panose="020B0604020202020204" pitchFamily="34" charset="0"/>
              </a:rPr>
              <a:t>ICD-10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750B30B4-5B03-DDD9-9F07-8907CD150D91}"/>
              </a:ext>
            </a:extLst>
          </p:cNvPr>
          <p:cNvSpPr txBox="1"/>
          <p:nvPr/>
        </p:nvSpPr>
        <p:spPr>
          <a:xfrm>
            <a:off x="6646190" y="4676607"/>
            <a:ext cx="537327" cy="25359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48" b="1" dirty="0">
                <a:latin typeface="Arial" panose="020B0604020202020204" pitchFamily="34" charset="0"/>
                <a:cs typeface="Arial" panose="020B0604020202020204" pitchFamily="34" charset="0"/>
              </a:rPr>
              <a:t>ICD-9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6B081596-452E-C16A-C1DF-6FEB7F53B49A}"/>
              </a:ext>
            </a:extLst>
          </p:cNvPr>
          <p:cNvSpPr txBox="1"/>
          <p:nvPr/>
        </p:nvSpPr>
        <p:spPr>
          <a:xfrm>
            <a:off x="3633625" y="0"/>
            <a:ext cx="2725426" cy="25359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48" b="1" dirty="0">
                <a:latin typeface="Arial" panose="020B0604020202020204" pitchFamily="34" charset="0"/>
                <a:cs typeface="Arial" panose="020B0604020202020204" pitchFamily="34" charset="0"/>
              </a:rPr>
              <a:t>Forward Mapping Mucorales ICD Codes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A3E1A2C1-4554-F12B-A4A8-858DCAD724B6}"/>
              </a:ext>
            </a:extLst>
          </p:cNvPr>
          <p:cNvSpPr txBox="1"/>
          <p:nvPr/>
        </p:nvSpPr>
        <p:spPr>
          <a:xfrm>
            <a:off x="3607169" y="4409020"/>
            <a:ext cx="2722220" cy="25359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48" b="1" dirty="0">
                <a:latin typeface="Arial" panose="020B0604020202020204" pitchFamily="34" charset="0"/>
                <a:cs typeface="Arial" panose="020B0604020202020204" pitchFamily="34" charset="0"/>
              </a:rPr>
              <a:t>Reverse Mapping Mucorales ICD Codes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0E9185F4-7FE5-FB77-C187-AC0201683F9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488629"/>
            <a:ext cx="10058400" cy="1709928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E88F8893-AFB8-3741-3176-975F762EADE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1" y="4922041"/>
            <a:ext cx="10058400" cy="1844040"/>
          </a:xfrm>
          <a:prstGeom prst="rect">
            <a:avLst/>
          </a:prstGeom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DB4D355C-0348-51EF-7036-98784A2D1DE6}"/>
              </a:ext>
            </a:extLst>
          </p:cNvPr>
          <p:cNvSpPr txBox="1"/>
          <p:nvPr/>
        </p:nvSpPr>
        <p:spPr>
          <a:xfrm>
            <a:off x="-1" y="2166122"/>
            <a:ext cx="10058401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b="1" dirty="0">
                <a:latin typeface="Arial" panose="020B0604020202020204" pitchFamily="34" charset="0"/>
                <a:cs typeface="Arial" panose="020B0604020202020204" pitchFamily="34" charset="0"/>
              </a:rPr>
              <a:t>Supplemental Figure 13. Mucorales ICD Code Mapping: Best Match Forward Sankey Network</a:t>
            </a:r>
          </a:p>
          <a:p>
            <a:r>
              <a:rPr lang="en-US" sz="1000" dirty="0">
                <a:latin typeface="Arial" panose="020B0604020202020204" pitchFamily="34" charset="0"/>
                <a:cs typeface="Arial" panose="020B0604020202020204" pitchFamily="34" charset="0"/>
              </a:rPr>
              <a:t>Nodes represent individual ICD codes across versions (ICD-9, -10, -11), connected by links indicating mapping pairs with the highest match score, with ties. Primary mapping utilized a stepwise strategy requiring a minimum cumulative match score of 45 out of 100 points. To capture complex relationships, a “skip-link” strategy was employed for pairs that either failed the initial threshold or exceed the stepwise score by ≥ 10 points. Codes with unlinked nodes (“Orphan” codes) represent version-specific entries that did not meet the minimum match criteria in either strategy and are indicated by a pink node with text indicating the ICD version(s) to which it is unique. Light Blue Nodes: ICD-9, Dark Blue Nodes: ICD-10, and Yellow Nodes: ICD-11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74E55A68-6F6F-F38E-74E3-D9611B95B821}"/>
              </a:ext>
            </a:extLst>
          </p:cNvPr>
          <p:cNvSpPr txBox="1"/>
          <p:nvPr/>
        </p:nvSpPr>
        <p:spPr>
          <a:xfrm>
            <a:off x="0" y="6766081"/>
            <a:ext cx="10058401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b="1" dirty="0">
                <a:latin typeface="Arial" panose="020B0604020202020204" pitchFamily="34" charset="0"/>
                <a:cs typeface="Arial" panose="020B0604020202020204" pitchFamily="34" charset="0"/>
              </a:rPr>
              <a:t>Supplemental Figure 14. Mucorales ICD Code Mapping: Best Match Reverse Sankey Network</a:t>
            </a:r>
          </a:p>
          <a:p>
            <a:r>
              <a:rPr lang="en-US" sz="1000" dirty="0">
                <a:latin typeface="Arial" panose="020B0604020202020204" pitchFamily="34" charset="0"/>
                <a:cs typeface="Arial" panose="020B0604020202020204" pitchFamily="34" charset="0"/>
              </a:rPr>
              <a:t>Nodes represent individual ICD codes across versions (ICD-11, -10, -9), connected by links indicating mapping pairs with the highest match score, with ties. Primary mapping utilized a stepwise strategy requiring a minimum cumulative match score of 45 out of 100 points. To capture complex relationships, a “skip-link” strategy was employed for pairs that either failed the initial threshold or exceed the stepwise score by ≥ 10 points. Codes with unlinked nodes (“Orphan” codes) represent version-specific entries that did not meet the minimum match criteria in either strategy and are indicated by a pink node with text indicating the ICD version(s) to which it is unique. Light Blue Nodes: ICD-9, Dark Blue Nodes: ICD-10, and Yellow Nodes: ICD-11</a:t>
            </a:r>
          </a:p>
        </p:txBody>
      </p:sp>
    </p:spTree>
    <p:extLst>
      <p:ext uri="{BB962C8B-B14F-4D97-AF65-F5344CB8AC3E}">
        <p14:creationId xmlns:p14="http://schemas.microsoft.com/office/powerpoint/2010/main" val="95697938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717165-E416-0E8A-48EF-9BCD9DDAAD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TextBox 18">
            <a:extLst>
              <a:ext uri="{FF2B5EF4-FFF2-40B4-BE49-F238E27FC236}">
                <a16:creationId xmlns:a16="http://schemas.microsoft.com/office/drawing/2014/main" id="{758C7EC4-0E32-172A-A44A-C947D1EFD323}"/>
              </a:ext>
            </a:extLst>
          </p:cNvPr>
          <p:cNvSpPr txBox="1"/>
          <p:nvPr/>
        </p:nvSpPr>
        <p:spPr>
          <a:xfrm>
            <a:off x="0" y="244891"/>
            <a:ext cx="537327" cy="25359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48" b="1" dirty="0">
                <a:latin typeface="Arial" panose="020B0604020202020204" pitchFamily="34" charset="0"/>
                <a:cs typeface="Arial" panose="020B0604020202020204" pitchFamily="34" charset="0"/>
              </a:rPr>
              <a:t>ICD-9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EEC86E98-E6C6-4623-DEEB-5ECAFC231381}"/>
              </a:ext>
            </a:extLst>
          </p:cNvPr>
          <p:cNvSpPr txBox="1"/>
          <p:nvPr/>
        </p:nvSpPr>
        <p:spPr>
          <a:xfrm>
            <a:off x="3300836" y="253596"/>
            <a:ext cx="612668" cy="25359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48" b="1" dirty="0">
                <a:latin typeface="Arial" panose="020B0604020202020204" pitchFamily="34" charset="0"/>
                <a:cs typeface="Arial" panose="020B0604020202020204" pitchFamily="34" charset="0"/>
              </a:rPr>
              <a:t>ICD-10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278811E3-CBD1-73B9-845F-E6328043D640}"/>
              </a:ext>
            </a:extLst>
          </p:cNvPr>
          <p:cNvSpPr txBox="1"/>
          <p:nvPr/>
        </p:nvSpPr>
        <p:spPr>
          <a:xfrm>
            <a:off x="6646191" y="244891"/>
            <a:ext cx="612668" cy="25359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48" b="1" dirty="0">
                <a:latin typeface="Arial" panose="020B0604020202020204" pitchFamily="34" charset="0"/>
                <a:cs typeface="Arial" panose="020B0604020202020204" pitchFamily="34" charset="0"/>
              </a:rPr>
              <a:t>ICD-11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03261785-FC0B-B209-5563-208F0BDDA135}"/>
              </a:ext>
            </a:extLst>
          </p:cNvPr>
          <p:cNvSpPr txBox="1"/>
          <p:nvPr/>
        </p:nvSpPr>
        <p:spPr>
          <a:xfrm>
            <a:off x="0" y="5305911"/>
            <a:ext cx="612668" cy="25359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48" b="1" dirty="0">
                <a:latin typeface="Arial" panose="020B0604020202020204" pitchFamily="34" charset="0"/>
                <a:cs typeface="Arial" panose="020B0604020202020204" pitchFamily="34" charset="0"/>
              </a:rPr>
              <a:t>ICD-11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3698E5CE-DF2C-7603-6A5F-03265D1A1E16}"/>
              </a:ext>
            </a:extLst>
          </p:cNvPr>
          <p:cNvSpPr txBox="1"/>
          <p:nvPr/>
        </p:nvSpPr>
        <p:spPr>
          <a:xfrm>
            <a:off x="3300836" y="5319902"/>
            <a:ext cx="612668" cy="25359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48" b="1" dirty="0">
                <a:latin typeface="Arial" panose="020B0604020202020204" pitchFamily="34" charset="0"/>
                <a:cs typeface="Arial" panose="020B0604020202020204" pitchFamily="34" charset="0"/>
              </a:rPr>
              <a:t>ICD-10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C8F34233-401C-F658-9C4E-B7BCAEF28486}"/>
              </a:ext>
            </a:extLst>
          </p:cNvPr>
          <p:cNvSpPr txBox="1"/>
          <p:nvPr/>
        </p:nvSpPr>
        <p:spPr>
          <a:xfrm>
            <a:off x="6646191" y="5319902"/>
            <a:ext cx="537327" cy="25359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48" b="1" dirty="0">
                <a:latin typeface="Arial" panose="020B0604020202020204" pitchFamily="34" charset="0"/>
                <a:cs typeface="Arial" panose="020B0604020202020204" pitchFamily="34" charset="0"/>
              </a:rPr>
              <a:t>ICD-9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035F595F-45E4-8664-A16D-A4D20C09DF59}"/>
              </a:ext>
            </a:extLst>
          </p:cNvPr>
          <p:cNvSpPr txBox="1"/>
          <p:nvPr/>
        </p:nvSpPr>
        <p:spPr>
          <a:xfrm>
            <a:off x="3633625" y="0"/>
            <a:ext cx="3166251" cy="25359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48" b="1" dirty="0">
                <a:latin typeface="Arial" panose="020B0604020202020204" pitchFamily="34" charset="0"/>
                <a:cs typeface="Arial" panose="020B0604020202020204" pitchFamily="34" charset="0"/>
              </a:rPr>
              <a:t>Forward Mapping Paracoccidioides ICD Codes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A9A2649A-780D-AF46-FC13-B052212CB459}"/>
              </a:ext>
            </a:extLst>
          </p:cNvPr>
          <p:cNvSpPr txBox="1"/>
          <p:nvPr/>
        </p:nvSpPr>
        <p:spPr>
          <a:xfrm>
            <a:off x="3607170" y="5052315"/>
            <a:ext cx="3163045" cy="25359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48" b="1" dirty="0">
                <a:latin typeface="Arial" panose="020B0604020202020204" pitchFamily="34" charset="0"/>
                <a:cs typeface="Arial" panose="020B0604020202020204" pitchFamily="34" charset="0"/>
              </a:rPr>
              <a:t>Reverse Mapping Paracoccidioides ICD Codes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942EB65-D45F-2555-6228-2118FA8F034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3087" y="498487"/>
            <a:ext cx="10058400" cy="1126541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5366B41C-6FBF-2145-0FF8-C31E158745A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3087" y="5498806"/>
            <a:ext cx="10058400" cy="1307592"/>
          </a:xfrm>
          <a:prstGeom prst="rect">
            <a:avLst/>
          </a:prstGeom>
        </p:spPr>
      </p:pic>
      <p:sp>
        <p:nvSpPr>
          <p:cNvPr id="26" name="TextBox 25">
            <a:extLst>
              <a:ext uri="{FF2B5EF4-FFF2-40B4-BE49-F238E27FC236}">
                <a16:creationId xmlns:a16="http://schemas.microsoft.com/office/drawing/2014/main" id="{D17E218B-8500-3C29-DEEE-731854A84592}"/>
              </a:ext>
            </a:extLst>
          </p:cNvPr>
          <p:cNvSpPr txBox="1"/>
          <p:nvPr/>
        </p:nvSpPr>
        <p:spPr>
          <a:xfrm>
            <a:off x="0" y="1619798"/>
            <a:ext cx="10058401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b="1" dirty="0">
                <a:latin typeface="Arial" panose="020B0604020202020204" pitchFamily="34" charset="0"/>
                <a:cs typeface="Arial" panose="020B0604020202020204" pitchFamily="34" charset="0"/>
              </a:rPr>
              <a:t>Supplemental Figure 15. Paracoccidioides ICD Code Mapping: Best Match Forward Sankey Network</a:t>
            </a:r>
          </a:p>
          <a:p>
            <a:r>
              <a:rPr lang="en-US" sz="1000" dirty="0">
                <a:latin typeface="Arial" panose="020B0604020202020204" pitchFamily="34" charset="0"/>
                <a:cs typeface="Arial" panose="020B0604020202020204" pitchFamily="34" charset="0"/>
              </a:rPr>
              <a:t>Nodes represent individual ICD codes across versions (ICD-9, -10, -11), connected by links indicating mapping pairs with the highest match score, with ties. Primary mapping utilized a stepwise strategy requiring a minimum cumulative match score of 45 out of 100 points. To capture complex relationships, a “skip-link” strategy was employed for pairs that either failed the initial threshold or exceed the stepwise score by ≥ 10 points. Codes with unlinked nodes (“Orphan” codes) represent version-specific entries that did not meet the minimum match criteria in either strategy and are indicated by a pink node with text indicating the ICD version(s) to which it is unique. Light Blue Nodes: ICD-9, Dark Blue Nodes: ICD-10, and Yellow Nodes: ICD-11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0AA47592-069A-73FD-55A0-DF143F03E1D4}"/>
              </a:ext>
            </a:extLst>
          </p:cNvPr>
          <p:cNvSpPr txBox="1"/>
          <p:nvPr/>
        </p:nvSpPr>
        <p:spPr>
          <a:xfrm>
            <a:off x="0" y="6766081"/>
            <a:ext cx="10058401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b="1" dirty="0">
                <a:latin typeface="Arial" panose="020B0604020202020204" pitchFamily="34" charset="0"/>
                <a:cs typeface="Arial" panose="020B0604020202020204" pitchFamily="34" charset="0"/>
              </a:rPr>
              <a:t>Supplemental Figure 16. Paracoccidioides ICD Code Mapping: Best Match Reverse Sankey Network</a:t>
            </a:r>
          </a:p>
          <a:p>
            <a:r>
              <a:rPr lang="en-US" sz="1000" dirty="0">
                <a:latin typeface="Arial" panose="020B0604020202020204" pitchFamily="34" charset="0"/>
                <a:cs typeface="Arial" panose="020B0604020202020204" pitchFamily="34" charset="0"/>
              </a:rPr>
              <a:t>Nodes represent individual ICD codes across versions (ICD-11, -10, -9), connected by links indicating mapping pairs with the highest match score, with ties. Primary mapping utilized a stepwise strategy requiring a minimum cumulative match score of 45 out of 100 points. To capture complex relationships, a “skip-link” strategy was employed for pairs that either failed the initial threshold or exceed the stepwise score by ≥ 10 points. Codes with unlinked nodes (“Orphan” codes) represent version-specific entries that did not meet the minimum match criteria in either strategy and are indicated by a pink node with text indicating the ICD version(s) to which it is unique. Light Blue Nodes: ICD-9, Dark Blue Nodes: ICD-10, and Yellow Nodes: ICD-11</a:t>
            </a:r>
          </a:p>
        </p:txBody>
      </p:sp>
    </p:spTree>
    <p:extLst>
      <p:ext uri="{BB962C8B-B14F-4D97-AF65-F5344CB8AC3E}">
        <p14:creationId xmlns:p14="http://schemas.microsoft.com/office/powerpoint/2010/main" val="155370819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2CD7C1-40A3-4A1F-DD83-2154E41337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TextBox 18">
            <a:extLst>
              <a:ext uri="{FF2B5EF4-FFF2-40B4-BE49-F238E27FC236}">
                <a16:creationId xmlns:a16="http://schemas.microsoft.com/office/drawing/2014/main" id="{1AC6CB30-A050-3999-5ACB-EC8223D99C2E}"/>
              </a:ext>
            </a:extLst>
          </p:cNvPr>
          <p:cNvSpPr txBox="1"/>
          <p:nvPr/>
        </p:nvSpPr>
        <p:spPr>
          <a:xfrm>
            <a:off x="0" y="244891"/>
            <a:ext cx="537327" cy="25359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48" b="1" dirty="0">
                <a:latin typeface="Arial" panose="020B0604020202020204" pitchFamily="34" charset="0"/>
                <a:cs typeface="Arial" panose="020B0604020202020204" pitchFamily="34" charset="0"/>
              </a:rPr>
              <a:t>ICD-9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929D80B1-0218-E62A-945F-DCA5FE243BC3}"/>
              </a:ext>
            </a:extLst>
          </p:cNvPr>
          <p:cNvSpPr txBox="1"/>
          <p:nvPr/>
        </p:nvSpPr>
        <p:spPr>
          <a:xfrm>
            <a:off x="3300836" y="253596"/>
            <a:ext cx="612668" cy="25359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48" b="1" dirty="0">
                <a:latin typeface="Arial" panose="020B0604020202020204" pitchFamily="34" charset="0"/>
                <a:cs typeface="Arial" panose="020B0604020202020204" pitchFamily="34" charset="0"/>
              </a:rPr>
              <a:t>ICD-10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5A26454B-FB4C-3B4A-A89A-185F307F4A01}"/>
              </a:ext>
            </a:extLst>
          </p:cNvPr>
          <p:cNvSpPr txBox="1"/>
          <p:nvPr/>
        </p:nvSpPr>
        <p:spPr>
          <a:xfrm>
            <a:off x="6646191" y="244891"/>
            <a:ext cx="612668" cy="25359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48" b="1" dirty="0">
                <a:latin typeface="Arial" panose="020B0604020202020204" pitchFamily="34" charset="0"/>
                <a:cs typeface="Arial" panose="020B0604020202020204" pitchFamily="34" charset="0"/>
              </a:rPr>
              <a:t>ICD-11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C9974F64-DF4A-78C8-3C60-7F157CEBD1DB}"/>
              </a:ext>
            </a:extLst>
          </p:cNvPr>
          <p:cNvSpPr txBox="1"/>
          <p:nvPr/>
        </p:nvSpPr>
        <p:spPr>
          <a:xfrm>
            <a:off x="0" y="4564813"/>
            <a:ext cx="612668" cy="25359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48" b="1" dirty="0">
                <a:latin typeface="Arial" panose="020B0604020202020204" pitchFamily="34" charset="0"/>
                <a:cs typeface="Arial" panose="020B0604020202020204" pitchFamily="34" charset="0"/>
              </a:rPr>
              <a:t>ICD-11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F90FC585-263E-3826-273F-2B52B9C56D9F}"/>
              </a:ext>
            </a:extLst>
          </p:cNvPr>
          <p:cNvSpPr txBox="1"/>
          <p:nvPr/>
        </p:nvSpPr>
        <p:spPr>
          <a:xfrm>
            <a:off x="3300836" y="4564813"/>
            <a:ext cx="612668" cy="25359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48" b="1" dirty="0">
                <a:latin typeface="Arial" panose="020B0604020202020204" pitchFamily="34" charset="0"/>
                <a:cs typeface="Arial" panose="020B0604020202020204" pitchFamily="34" charset="0"/>
              </a:rPr>
              <a:t>ICD-10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5D065E16-5A14-7D52-CB49-7CAF21B087E2}"/>
              </a:ext>
            </a:extLst>
          </p:cNvPr>
          <p:cNvSpPr txBox="1"/>
          <p:nvPr/>
        </p:nvSpPr>
        <p:spPr>
          <a:xfrm>
            <a:off x="6646191" y="4564813"/>
            <a:ext cx="537327" cy="25359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48" b="1" dirty="0">
                <a:latin typeface="Arial" panose="020B0604020202020204" pitchFamily="34" charset="0"/>
                <a:cs typeface="Arial" panose="020B0604020202020204" pitchFamily="34" charset="0"/>
              </a:rPr>
              <a:t>ICD-9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DEBCCCDD-13C8-78BF-240B-AB6B3DB516BD}"/>
              </a:ext>
            </a:extLst>
          </p:cNvPr>
          <p:cNvSpPr txBox="1"/>
          <p:nvPr/>
        </p:nvSpPr>
        <p:spPr>
          <a:xfrm>
            <a:off x="3633625" y="0"/>
            <a:ext cx="2738250" cy="25359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48" b="1" dirty="0">
                <a:latin typeface="Arial" panose="020B0604020202020204" pitchFamily="34" charset="0"/>
                <a:cs typeface="Arial" panose="020B0604020202020204" pitchFamily="34" charset="0"/>
              </a:rPr>
              <a:t>Forward Mapping </a:t>
            </a:r>
            <a:r>
              <a:rPr lang="en-US" sz="1048" b="1" dirty="0" err="1">
                <a:latin typeface="Arial" panose="020B0604020202020204" pitchFamily="34" charset="0"/>
                <a:cs typeface="Arial" panose="020B0604020202020204" pitchFamily="34" charset="0"/>
              </a:rPr>
              <a:t>Sporothrix</a:t>
            </a:r>
            <a:r>
              <a:rPr lang="en-US" sz="1048" b="1" dirty="0">
                <a:latin typeface="Arial" panose="020B0604020202020204" pitchFamily="34" charset="0"/>
                <a:cs typeface="Arial" panose="020B0604020202020204" pitchFamily="34" charset="0"/>
              </a:rPr>
              <a:t> ICD Codes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4AC97828-1AB2-CDDC-0C5E-4812C69385DA}"/>
              </a:ext>
            </a:extLst>
          </p:cNvPr>
          <p:cNvSpPr txBox="1"/>
          <p:nvPr/>
        </p:nvSpPr>
        <p:spPr>
          <a:xfrm>
            <a:off x="3607170" y="4311217"/>
            <a:ext cx="2735044" cy="25359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48" b="1" dirty="0">
                <a:latin typeface="Arial" panose="020B0604020202020204" pitchFamily="34" charset="0"/>
                <a:cs typeface="Arial" panose="020B0604020202020204" pitchFamily="34" charset="0"/>
              </a:rPr>
              <a:t>Reverse Mapping </a:t>
            </a:r>
            <a:r>
              <a:rPr lang="en-US" sz="1048" b="1" dirty="0" err="1">
                <a:latin typeface="Arial" panose="020B0604020202020204" pitchFamily="34" charset="0"/>
                <a:cs typeface="Arial" panose="020B0604020202020204" pitchFamily="34" charset="0"/>
              </a:rPr>
              <a:t>Sporothrix</a:t>
            </a:r>
            <a:r>
              <a:rPr lang="en-US" sz="1048" b="1" dirty="0">
                <a:latin typeface="Arial" panose="020B0604020202020204" pitchFamily="34" charset="0"/>
                <a:cs typeface="Arial" panose="020B0604020202020204" pitchFamily="34" charset="0"/>
              </a:rPr>
              <a:t> ICD Codes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A26EBC03-825C-1E32-2732-B9E0BB7A7D6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498487"/>
            <a:ext cx="10058400" cy="1642872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AD8203D8-44E2-1F56-F71B-79C0EF38DEB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4754401"/>
            <a:ext cx="10058400" cy="2011680"/>
          </a:xfrm>
          <a:prstGeom prst="rect">
            <a:avLst/>
          </a:prstGeom>
        </p:spPr>
      </p:pic>
      <p:sp>
        <p:nvSpPr>
          <p:cNvPr id="26" name="TextBox 25">
            <a:extLst>
              <a:ext uri="{FF2B5EF4-FFF2-40B4-BE49-F238E27FC236}">
                <a16:creationId xmlns:a16="http://schemas.microsoft.com/office/drawing/2014/main" id="{C174985E-BB2B-6C02-23E1-B3C0FAA67998}"/>
              </a:ext>
            </a:extLst>
          </p:cNvPr>
          <p:cNvSpPr txBox="1"/>
          <p:nvPr/>
        </p:nvSpPr>
        <p:spPr>
          <a:xfrm>
            <a:off x="-1" y="2141359"/>
            <a:ext cx="10058401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b="1" dirty="0">
                <a:latin typeface="Arial" panose="020B0604020202020204" pitchFamily="34" charset="0"/>
                <a:cs typeface="Arial" panose="020B0604020202020204" pitchFamily="34" charset="0"/>
              </a:rPr>
              <a:t>Supplemental Figure 17. </a:t>
            </a:r>
            <a:r>
              <a:rPr lang="en-US" sz="1000" b="1" dirty="0" err="1">
                <a:latin typeface="Arial" panose="020B0604020202020204" pitchFamily="34" charset="0"/>
                <a:cs typeface="Arial" panose="020B0604020202020204" pitchFamily="34" charset="0"/>
              </a:rPr>
              <a:t>Sporothrix</a:t>
            </a:r>
            <a:r>
              <a:rPr lang="en-US" sz="1000" b="1" dirty="0">
                <a:latin typeface="Arial" panose="020B0604020202020204" pitchFamily="34" charset="0"/>
                <a:cs typeface="Arial" panose="020B0604020202020204" pitchFamily="34" charset="0"/>
              </a:rPr>
              <a:t> ICD Code Mapping: Best Match Forward Sankey Network</a:t>
            </a:r>
          </a:p>
          <a:p>
            <a:r>
              <a:rPr lang="en-US" sz="1000" dirty="0">
                <a:latin typeface="Arial" panose="020B0604020202020204" pitchFamily="34" charset="0"/>
                <a:cs typeface="Arial" panose="020B0604020202020204" pitchFamily="34" charset="0"/>
              </a:rPr>
              <a:t>Nodes represent individual ICD codes across versions (ICD-9, -10, -11), connected by links indicating mapping pairs with the highest match score, with ties. Primary mapping utilized a stepwise strategy requiring a minimum cumulative match score of 45 out of 100 points. To capture complex relationships, a “skip-link” strategy was employed for pairs that either failed the initial threshold or exceed the stepwise score by ≥ 10 points. Codes with unlinked nodes (“Orphan” codes) represent version-specific entries that did not meet the minimum match criteria in either strategy and are indicated by a pink node with text indicating the ICD version(s) to which it is unique. Light Blue Nodes: ICD-9, Dark Blue Nodes: ICD-10, and Yellow Nodes: ICD-11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F6B26262-0743-5847-59C1-083725285F78}"/>
              </a:ext>
            </a:extLst>
          </p:cNvPr>
          <p:cNvSpPr txBox="1"/>
          <p:nvPr/>
        </p:nvSpPr>
        <p:spPr>
          <a:xfrm>
            <a:off x="0" y="6766081"/>
            <a:ext cx="10058401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b="1" dirty="0">
                <a:latin typeface="Arial" panose="020B0604020202020204" pitchFamily="34" charset="0"/>
                <a:cs typeface="Arial" panose="020B0604020202020204" pitchFamily="34" charset="0"/>
              </a:rPr>
              <a:t>Supplemental Figure 18. </a:t>
            </a:r>
            <a:r>
              <a:rPr lang="en-US" sz="1000" b="1" dirty="0" err="1">
                <a:latin typeface="Arial" panose="020B0604020202020204" pitchFamily="34" charset="0"/>
                <a:cs typeface="Arial" panose="020B0604020202020204" pitchFamily="34" charset="0"/>
              </a:rPr>
              <a:t>Sporothrix</a:t>
            </a:r>
            <a:r>
              <a:rPr lang="en-US" sz="1000" b="1" dirty="0">
                <a:latin typeface="Arial" panose="020B0604020202020204" pitchFamily="34" charset="0"/>
                <a:cs typeface="Arial" panose="020B0604020202020204" pitchFamily="34" charset="0"/>
              </a:rPr>
              <a:t> ICD Code Mapping: Best Match Reverse Sankey Network</a:t>
            </a:r>
          </a:p>
          <a:p>
            <a:r>
              <a:rPr lang="en-US" sz="1000" dirty="0">
                <a:latin typeface="Arial" panose="020B0604020202020204" pitchFamily="34" charset="0"/>
                <a:cs typeface="Arial" panose="020B0604020202020204" pitchFamily="34" charset="0"/>
              </a:rPr>
              <a:t>Nodes represent individual ICD codes across versions (ICD-11, -10, -9), connected by links indicating mapping pairs with the highest match score, with ties. Primary mapping utilized a stepwise strategy requiring a minimum cumulative match score of 45 out of 100 points. To capture complex relationships, a “skip-link” strategy was employed for pairs that either failed the initial threshold or exceed the stepwise score by ≥ 10 points. Codes with unlinked nodes (“Orphan” codes) represent version-specific entries that did not meet the minimum match criteria in either strategy and are indicated by a pink node with text indicating the ICD version(s) to which it is unique. Light Blue Nodes: ICD-9, Dark Blue Nodes: ICD-10, and Yellow Nodes: ICD-11</a:t>
            </a:r>
          </a:p>
        </p:txBody>
      </p:sp>
    </p:spTree>
    <p:extLst>
      <p:ext uri="{BB962C8B-B14F-4D97-AF65-F5344CB8AC3E}">
        <p14:creationId xmlns:p14="http://schemas.microsoft.com/office/powerpoint/2010/main" val="178415000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7B200F-A646-A8BC-8FEA-EF99DFD357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TextBox 18">
            <a:extLst>
              <a:ext uri="{FF2B5EF4-FFF2-40B4-BE49-F238E27FC236}">
                <a16:creationId xmlns:a16="http://schemas.microsoft.com/office/drawing/2014/main" id="{3EE371D2-43E4-9CB0-5B6E-C5EC3FD0BB71}"/>
              </a:ext>
            </a:extLst>
          </p:cNvPr>
          <p:cNvSpPr txBox="1"/>
          <p:nvPr/>
        </p:nvSpPr>
        <p:spPr>
          <a:xfrm>
            <a:off x="0" y="244891"/>
            <a:ext cx="537327" cy="25359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48" b="1" dirty="0">
                <a:latin typeface="Arial" panose="020B0604020202020204" pitchFamily="34" charset="0"/>
                <a:cs typeface="Arial" panose="020B0604020202020204" pitchFamily="34" charset="0"/>
              </a:rPr>
              <a:t>ICD-9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416112DC-A6C1-4686-C9EE-E840A089A037}"/>
              </a:ext>
            </a:extLst>
          </p:cNvPr>
          <p:cNvSpPr txBox="1"/>
          <p:nvPr/>
        </p:nvSpPr>
        <p:spPr>
          <a:xfrm>
            <a:off x="3300836" y="253596"/>
            <a:ext cx="612668" cy="25359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48" b="1" dirty="0">
                <a:latin typeface="Arial" panose="020B0604020202020204" pitchFamily="34" charset="0"/>
                <a:cs typeface="Arial" panose="020B0604020202020204" pitchFamily="34" charset="0"/>
              </a:rPr>
              <a:t>ICD-10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CF910FCB-ED79-5550-F8B9-C4F4A14DD012}"/>
              </a:ext>
            </a:extLst>
          </p:cNvPr>
          <p:cNvSpPr txBox="1"/>
          <p:nvPr/>
        </p:nvSpPr>
        <p:spPr>
          <a:xfrm>
            <a:off x="6646191" y="244891"/>
            <a:ext cx="612668" cy="25359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48" b="1" dirty="0">
                <a:latin typeface="Arial" panose="020B0604020202020204" pitchFamily="34" charset="0"/>
                <a:cs typeface="Arial" panose="020B0604020202020204" pitchFamily="34" charset="0"/>
              </a:rPr>
              <a:t>ICD-11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3891A8FC-A57E-972C-B678-04820E04F964}"/>
              </a:ext>
            </a:extLst>
          </p:cNvPr>
          <p:cNvSpPr txBox="1"/>
          <p:nvPr/>
        </p:nvSpPr>
        <p:spPr>
          <a:xfrm>
            <a:off x="0" y="3696612"/>
            <a:ext cx="612668" cy="25359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48" b="1" dirty="0">
                <a:latin typeface="Arial" panose="020B0604020202020204" pitchFamily="34" charset="0"/>
                <a:cs typeface="Arial" panose="020B0604020202020204" pitchFamily="34" charset="0"/>
              </a:rPr>
              <a:t>ICD-11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E9077543-47FD-5562-3A20-314DF5677560}"/>
              </a:ext>
            </a:extLst>
          </p:cNvPr>
          <p:cNvSpPr txBox="1"/>
          <p:nvPr/>
        </p:nvSpPr>
        <p:spPr>
          <a:xfrm>
            <a:off x="3300836" y="3710603"/>
            <a:ext cx="612668" cy="25359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48" b="1" dirty="0">
                <a:latin typeface="Arial" panose="020B0604020202020204" pitchFamily="34" charset="0"/>
                <a:cs typeface="Arial" panose="020B0604020202020204" pitchFamily="34" charset="0"/>
              </a:rPr>
              <a:t>ICD-10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42C0560B-0EBF-5134-084A-FBE1BE9FBD1F}"/>
              </a:ext>
            </a:extLst>
          </p:cNvPr>
          <p:cNvSpPr txBox="1"/>
          <p:nvPr/>
        </p:nvSpPr>
        <p:spPr>
          <a:xfrm>
            <a:off x="6646191" y="3710603"/>
            <a:ext cx="537327" cy="25359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48" b="1" dirty="0">
                <a:latin typeface="Arial" panose="020B0604020202020204" pitchFamily="34" charset="0"/>
                <a:cs typeface="Arial" panose="020B0604020202020204" pitchFamily="34" charset="0"/>
              </a:rPr>
              <a:t>ICD-9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94C68CE6-4B72-89BA-A06E-1DAA7A7F16CF}"/>
              </a:ext>
            </a:extLst>
          </p:cNvPr>
          <p:cNvSpPr txBox="1"/>
          <p:nvPr/>
        </p:nvSpPr>
        <p:spPr>
          <a:xfrm>
            <a:off x="3633625" y="0"/>
            <a:ext cx="4107215" cy="25359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48" b="1" dirty="0">
                <a:latin typeface="Arial" panose="020B0604020202020204" pitchFamily="34" charset="0"/>
                <a:cs typeface="Arial" panose="020B0604020202020204" pitchFamily="34" charset="0"/>
              </a:rPr>
              <a:t>Forward Mapping Other Fungus-Specific Mycoses ICD Codes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4AC388A9-D605-9EB2-8E15-46B93F556C2D}"/>
              </a:ext>
            </a:extLst>
          </p:cNvPr>
          <p:cNvSpPr txBox="1"/>
          <p:nvPr/>
        </p:nvSpPr>
        <p:spPr>
          <a:xfrm>
            <a:off x="3607170" y="3443016"/>
            <a:ext cx="4104009" cy="25359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48" b="1" dirty="0">
                <a:latin typeface="Arial" panose="020B0604020202020204" pitchFamily="34" charset="0"/>
                <a:cs typeface="Arial" panose="020B0604020202020204" pitchFamily="34" charset="0"/>
              </a:rPr>
              <a:t>Reverse Mapping Other Fungus-Specific Mycoses ICD Codes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AD5707DE-8DBA-95A3-201A-252D4886DE0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498487"/>
            <a:ext cx="10058400" cy="1207008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E8262C4F-2B46-B7FC-F648-AB7FF508469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3886200"/>
            <a:ext cx="10058400" cy="2548128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B202EEFA-9FEF-03F2-E4AA-E624D734D281}"/>
              </a:ext>
            </a:extLst>
          </p:cNvPr>
          <p:cNvSpPr txBox="1"/>
          <p:nvPr/>
        </p:nvSpPr>
        <p:spPr>
          <a:xfrm>
            <a:off x="-1" y="2166122"/>
            <a:ext cx="10058401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b="1" dirty="0">
                <a:latin typeface="Arial" panose="020B0604020202020204" pitchFamily="34" charset="0"/>
                <a:cs typeface="Arial" panose="020B0604020202020204" pitchFamily="34" charset="0"/>
              </a:rPr>
              <a:t>Supplemental Figure 19. Other Fungus-specific Mycoses ICD Code Mapping: Best Match Forward Sankey Network</a:t>
            </a:r>
          </a:p>
          <a:p>
            <a:r>
              <a:rPr lang="en-US" sz="1000" dirty="0">
                <a:latin typeface="Arial" panose="020B0604020202020204" pitchFamily="34" charset="0"/>
                <a:cs typeface="Arial" panose="020B0604020202020204" pitchFamily="34" charset="0"/>
              </a:rPr>
              <a:t>Nodes represent individual ICD codes across versions (ICD-9, -10, -11), connected by links indicating mapping pairs with the highest match score, with ties. Primary mapping utilized a stepwise strategy requiring a minimum cumulative match score of 45 out of 100 points. To capture complex relationships, a “skip-link” strategy was employed for pairs that either failed the initial threshold or exceed the stepwise score by ≥ 10 points. Codes with unlinked nodes (“Orphan” codes) represent version-specific entries that did not meet the minimum match criteria in either strategy and are indicated by a pink node with text indicating the ICD version(s) to which it is unique. Light Blue Nodes: ICD-9, Dark Blue Nodes: ICD-10, and Yellow Nodes: ICD-11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48383F3-1F42-4037-9A21-A86DECA3F61B}"/>
              </a:ext>
            </a:extLst>
          </p:cNvPr>
          <p:cNvSpPr txBox="1"/>
          <p:nvPr/>
        </p:nvSpPr>
        <p:spPr>
          <a:xfrm>
            <a:off x="0" y="6766081"/>
            <a:ext cx="10058401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b="1" dirty="0">
                <a:latin typeface="Arial" panose="020B0604020202020204" pitchFamily="34" charset="0"/>
                <a:cs typeface="Arial" panose="020B0604020202020204" pitchFamily="34" charset="0"/>
              </a:rPr>
              <a:t>Supplemental Figure 20. Other Fungus-specific Mycoses ICD Code Mapping: Best Match Reverse Sankey Network</a:t>
            </a:r>
          </a:p>
          <a:p>
            <a:r>
              <a:rPr lang="en-US" sz="1000" dirty="0">
                <a:latin typeface="Arial" panose="020B0604020202020204" pitchFamily="34" charset="0"/>
                <a:cs typeface="Arial" panose="020B0604020202020204" pitchFamily="34" charset="0"/>
              </a:rPr>
              <a:t>Nodes represent individual ICD codes across versions (ICD-11, -10, -9), connected by links indicating mapping pairs with the highest match score, with ties. Primary mapping utilized a stepwise strategy requiring a minimum cumulative match score of 45 out of 100 points. To capture complex relationships, a “skip-link” strategy was employed for pairs that either failed the initial threshold or exceed the stepwise score by ≥ 10 points. Codes with unlinked nodes (“Orphan” codes) represent version-specific entries that did not meet the minimum match criteria in either strategy and are indicated by a pink node with text indicating the ICD version(s) to which it is unique. Light Blue Nodes: ICD-9, Dark Blue Nodes: ICD-10, and Yellow Nodes: ICD-11</a:t>
            </a:r>
          </a:p>
        </p:txBody>
      </p:sp>
    </p:spTree>
    <p:extLst>
      <p:ext uri="{BB962C8B-B14F-4D97-AF65-F5344CB8AC3E}">
        <p14:creationId xmlns:p14="http://schemas.microsoft.com/office/powerpoint/2010/main" val="81229868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EE121E-891C-6BAF-F77D-D111DC3734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TextBox 18">
            <a:extLst>
              <a:ext uri="{FF2B5EF4-FFF2-40B4-BE49-F238E27FC236}">
                <a16:creationId xmlns:a16="http://schemas.microsoft.com/office/drawing/2014/main" id="{3108C08B-1106-6C2D-DCB2-225F8C89365A}"/>
              </a:ext>
            </a:extLst>
          </p:cNvPr>
          <p:cNvSpPr txBox="1"/>
          <p:nvPr/>
        </p:nvSpPr>
        <p:spPr>
          <a:xfrm>
            <a:off x="0" y="244891"/>
            <a:ext cx="537327" cy="25359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48" b="1" dirty="0">
                <a:latin typeface="Arial" panose="020B0604020202020204" pitchFamily="34" charset="0"/>
                <a:cs typeface="Arial" panose="020B0604020202020204" pitchFamily="34" charset="0"/>
              </a:rPr>
              <a:t>ICD-9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B1F051C4-B8F2-9A2A-A57C-17807DB50C63}"/>
              </a:ext>
            </a:extLst>
          </p:cNvPr>
          <p:cNvSpPr txBox="1"/>
          <p:nvPr/>
        </p:nvSpPr>
        <p:spPr>
          <a:xfrm>
            <a:off x="3355154" y="253596"/>
            <a:ext cx="612668" cy="25359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48" b="1" dirty="0">
                <a:latin typeface="Arial" panose="020B0604020202020204" pitchFamily="34" charset="0"/>
                <a:cs typeface="Arial" panose="020B0604020202020204" pitchFamily="34" charset="0"/>
              </a:rPr>
              <a:t>ICD-10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1CAE27CE-CD67-390B-B5CD-F7BB02D9C843}"/>
              </a:ext>
            </a:extLst>
          </p:cNvPr>
          <p:cNvSpPr txBox="1"/>
          <p:nvPr/>
        </p:nvSpPr>
        <p:spPr>
          <a:xfrm>
            <a:off x="6736721" y="244891"/>
            <a:ext cx="612668" cy="25359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48" b="1" dirty="0">
                <a:latin typeface="Arial" panose="020B0604020202020204" pitchFamily="34" charset="0"/>
                <a:cs typeface="Arial" panose="020B0604020202020204" pitchFamily="34" charset="0"/>
              </a:rPr>
              <a:t>ICD-11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D6D4B1E0-8B08-12BF-12E3-6C88FC3F79CB}"/>
              </a:ext>
            </a:extLst>
          </p:cNvPr>
          <p:cNvSpPr txBox="1"/>
          <p:nvPr/>
        </p:nvSpPr>
        <p:spPr>
          <a:xfrm>
            <a:off x="3633625" y="0"/>
            <a:ext cx="3185487" cy="25359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48" b="1" dirty="0">
                <a:latin typeface="Arial" panose="020B0604020202020204" pitchFamily="34" charset="0"/>
                <a:cs typeface="Arial" panose="020B0604020202020204" pitchFamily="34" charset="0"/>
              </a:rPr>
              <a:t>Forward Mapping Dermatomycoses ICD Codes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03059042-6B7A-6CEE-064F-A0F869B5447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507192"/>
            <a:ext cx="10058400" cy="3956304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CA729A93-9513-E349-1F1C-0364943D692D}"/>
              </a:ext>
            </a:extLst>
          </p:cNvPr>
          <p:cNvSpPr txBox="1"/>
          <p:nvPr/>
        </p:nvSpPr>
        <p:spPr>
          <a:xfrm>
            <a:off x="0" y="4472201"/>
            <a:ext cx="10058401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b="1" dirty="0">
                <a:latin typeface="Arial" panose="020B0604020202020204" pitchFamily="34" charset="0"/>
                <a:cs typeface="Arial" panose="020B0604020202020204" pitchFamily="34" charset="0"/>
              </a:rPr>
              <a:t>Supplemental Figure 21. Dermatomycoses ICD Code Mapping: Best Match Forward Sankey Network</a:t>
            </a:r>
          </a:p>
          <a:p>
            <a:r>
              <a:rPr lang="en-US" sz="1000" dirty="0">
                <a:latin typeface="Arial" panose="020B0604020202020204" pitchFamily="34" charset="0"/>
                <a:cs typeface="Arial" panose="020B0604020202020204" pitchFamily="34" charset="0"/>
              </a:rPr>
              <a:t>Nodes represent individual ICD codes across versions (ICD-9, -10, -11), connected by links indicating mapping pairs with the highest match score, with ties. Primary mapping utilized a stepwise strategy requiring a minimum cumulative match score of 45 out of 100 points. To capture complex relationships, a “skip-link” strategy was employed for pairs that either failed the initial threshold or exceed the stepwise score by ≥ 10 points. Codes with unlinked nodes (“Orphan” codes) represent version-specific entries that did not meet the minimum match criteria in either strategy and are indicated by a pink node with text indicating the ICD version(s) to which it is unique. Light Blue Nodes: ICD-9, Dark Blue Nodes: ICD-10, and Yellow Nodes: ICD-11</a:t>
            </a:r>
          </a:p>
        </p:txBody>
      </p:sp>
    </p:spTree>
    <p:extLst>
      <p:ext uri="{BB962C8B-B14F-4D97-AF65-F5344CB8AC3E}">
        <p14:creationId xmlns:p14="http://schemas.microsoft.com/office/powerpoint/2010/main" val="291862843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2B8943-69F2-0F44-9F92-FD5999F00D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TextBox 18">
            <a:extLst>
              <a:ext uri="{FF2B5EF4-FFF2-40B4-BE49-F238E27FC236}">
                <a16:creationId xmlns:a16="http://schemas.microsoft.com/office/drawing/2014/main" id="{AA97A261-38CF-50C2-4D03-4664AB45FD7F}"/>
              </a:ext>
            </a:extLst>
          </p:cNvPr>
          <p:cNvSpPr txBox="1"/>
          <p:nvPr/>
        </p:nvSpPr>
        <p:spPr>
          <a:xfrm>
            <a:off x="0" y="244891"/>
            <a:ext cx="612668" cy="25359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48" b="1" dirty="0">
                <a:latin typeface="Arial" panose="020B0604020202020204" pitchFamily="34" charset="0"/>
                <a:cs typeface="Arial" panose="020B0604020202020204" pitchFamily="34" charset="0"/>
              </a:rPr>
              <a:t>ICD-11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BC1FB5E8-CA8A-92C0-2C06-935BFBAE3CA0}"/>
              </a:ext>
            </a:extLst>
          </p:cNvPr>
          <p:cNvSpPr txBox="1"/>
          <p:nvPr/>
        </p:nvSpPr>
        <p:spPr>
          <a:xfrm>
            <a:off x="3355154" y="253596"/>
            <a:ext cx="612668" cy="25359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48" b="1" dirty="0">
                <a:latin typeface="Arial" panose="020B0604020202020204" pitchFamily="34" charset="0"/>
                <a:cs typeface="Arial" panose="020B0604020202020204" pitchFamily="34" charset="0"/>
              </a:rPr>
              <a:t>ICD-10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ADF27290-1A75-A80D-5B8E-7A2C25B4C5D9}"/>
              </a:ext>
            </a:extLst>
          </p:cNvPr>
          <p:cNvSpPr txBox="1"/>
          <p:nvPr/>
        </p:nvSpPr>
        <p:spPr>
          <a:xfrm>
            <a:off x="6736721" y="244891"/>
            <a:ext cx="537327" cy="25359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48" b="1" dirty="0">
                <a:latin typeface="Arial" panose="020B0604020202020204" pitchFamily="34" charset="0"/>
                <a:cs typeface="Arial" panose="020B0604020202020204" pitchFamily="34" charset="0"/>
              </a:rPr>
              <a:t>ICD-9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D31ECA39-BCA6-AEA7-CABB-17E00CFD8C5B}"/>
              </a:ext>
            </a:extLst>
          </p:cNvPr>
          <p:cNvSpPr txBox="1"/>
          <p:nvPr/>
        </p:nvSpPr>
        <p:spPr>
          <a:xfrm>
            <a:off x="3633625" y="0"/>
            <a:ext cx="3182281" cy="25359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48" b="1" dirty="0">
                <a:latin typeface="Arial" panose="020B0604020202020204" pitchFamily="34" charset="0"/>
                <a:cs typeface="Arial" panose="020B0604020202020204" pitchFamily="34" charset="0"/>
              </a:rPr>
              <a:t>Reverse Mapping Dermatomycoses ICD Codes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059A530F-9404-BDFE-28A0-7A7852822C7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507192"/>
            <a:ext cx="10058400" cy="5900928"/>
          </a:xfrm>
          <a:prstGeom prst="rect">
            <a:avLst/>
          </a:prstGeom>
        </p:spPr>
      </p:pic>
      <p:sp>
        <p:nvSpPr>
          <p:cNvPr id="25" name="TextBox 24">
            <a:extLst>
              <a:ext uri="{FF2B5EF4-FFF2-40B4-BE49-F238E27FC236}">
                <a16:creationId xmlns:a16="http://schemas.microsoft.com/office/drawing/2014/main" id="{25F83BC9-D318-FEFF-79C0-FBCEB8755837}"/>
              </a:ext>
            </a:extLst>
          </p:cNvPr>
          <p:cNvSpPr txBox="1"/>
          <p:nvPr/>
        </p:nvSpPr>
        <p:spPr>
          <a:xfrm>
            <a:off x="0" y="6766081"/>
            <a:ext cx="10058401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b="1" dirty="0">
                <a:latin typeface="Arial" panose="020B0604020202020204" pitchFamily="34" charset="0"/>
                <a:cs typeface="Arial" panose="020B0604020202020204" pitchFamily="34" charset="0"/>
              </a:rPr>
              <a:t>Supplemental Figure 22. Dermatomycoses ICD Code Mapping: Best Match Reverse Sankey Network</a:t>
            </a:r>
          </a:p>
          <a:p>
            <a:r>
              <a:rPr lang="en-US" sz="1000" dirty="0">
                <a:latin typeface="Arial" panose="020B0604020202020204" pitchFamily="34" charset="0"/>
                <a:cs typeface="Arial" panose="020B0604020202020204" pitchFamily="34" charset="0"/>
              </a:rPr>
              <a:t>Nodes represent individual ICD codes across versions (ICD-11, -10, -9), connected by links indicating mapping pairs with the highest match score, with ties. Primary mapping utilized a stepwise strategy requiring a minimum cumulative match score of 45 out of 100 points. To capture complex relationships, a “skip-link” strategy was employed for pairs that either failed the initial threshold or exceed the stepwise score by ≥ 10 points. Codes with unlinked nodes (“Orphan” codes) represent version-specific entries that did not meet the minimum match criteria in either strategy and are indicated by a pink node with text indicating the ICD version(s) to which it is unique. Light Blue Nodes: ICD-9, Dark Blue Nodes: ICD-10, and Yellow Nodes: ICD-11</a:t>
            </a:r>
          </a:p>
        </p:txBody>
      </p:sp>
    </p:spTree>
    <p:extLst>
      <p:ext uri="{BB962C8B-B14F-4D97-AF65-F5344CB8AC3E}">
        <p14:creationId xmlns:p14="http://schemas.microsoft.com/office/powerpoint/2010/main" val="185992728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D1BAD3-6089-0638-F928-A698313D6E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TextBox 18">
            <a:extLst>
              <a:ext uri="{FF2B5EF4-FFF2-40B4-BE49-F238E27FC236}">
                <a16:creationId xmlns:a16="http://schemas.microsoft.com/office/drawing/2014/main" id="{5F308841-0744-0945-D60B-0FB25B670353}"/>
              </a:ext>
            </a:extLst>
          </p:cNvPr>
          <p:cNvSpPr txBox="1"/>
          <p:nvPr/>
        </p:nvSpPr>
        <p:spPr>
          <a:xfrm>
            <a:off x="0" y="244891"/>
            <a:ext cx="537327" cy="25359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48" b="1" dirty="0">
                <a:latin typeface="Arial" panose="020B0604020202020204" pitchFamily="34" charset="0"/>
                <a:cs typeface="Arial" panose="020B0604020202020204" pitchFamily="34" charset="0"/>
              </a:rPr>
              <a:t>ICD-9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696602C0-B56F-A63B-D015-51F8BF735DF6}"/>
              </a:ext>
            </a:extLst>
          </p:cNvPr>
          <p:cNvSpPr txBox="1"/>
          <p:nvPr/>
        </p:nvSpPr>
        <p:spPr>
          <a:xfrm>
            <a:off x="3300836" y="253596"/>
            <a:ext cx="612668" cy="25359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48" b="1" dirty="0">
                <a:latin typeface="Arial" panose="020B0604020202020204" pitchFamily="34" charset="0"/>
                <a:cs typeface="Arial" panose="020B0604020202020204" pitchFamily="34" charset="0"/>
              </a:rPr>
              <a:t>ICD-10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59252BC7-FA69-027E-F780-42FF6C17F043}"/>
              </a:ext>
            </a:extLst>
          </p:cNvPr>
          <p:cNvSpPr txBox="1"/>
          <p:nvPr/>
        </p:nvSpPr>
        <p:spPr>
          <a:xfrm>
            <a:off x="6646191" y="244891"/>
            <a:ext cx="612668" cy="25359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48" b="1" dirty="0">
                <a:latin typeface="Arial" panose="020B0604020202020204" pitchFamily="34" charset="0"/>
                <a:cs typeface="Arial" panose="020B0604020202020204" pitchFamily="34" charset="0"/>
              </a:rPr>
              <a:t>ICD-11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DD3B04F8-DC2C-5C29-9E9B-550D666A8F2F}"/>
              </a:ext>
            </a:extLst>
          </p:cNvPr>
          <p:cNvSpPr txBox="1"/>
          <p:nvPr/>
        </p:nvSpPr>
        <p:spPr>
          <a:xfrm>
            <a:off x="3633625" y="0"/>
            <a:ext cx="3167855" cy="25359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48" b="1" dirty="0">
                <a:latin typeface="Arial" panose="020B0604020202020204" pitchFamily="34" charset="0"/>
                <a:cs typeface="Arial" panose="020B0604020202020204" pitchFamily="34" charset="0"/>
              </a:rPr>
              <a:t>Forward Mapping General Mycoses ICD Codes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F68DDEF-0623-35C8-6612-995D7263A297}"/>
              </a:ext>
            </a:extLst>
          </p:cNvPr>
          <p:cNvSpPr txBox="1"/>
          <p:nvPr/>
        </p:nvSpPr>
        <p:spPr>
          <a:xfrm>
            <a:off x="-1" y="6757376"/>
            <a:ext cx="10058401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b="1" dirty="0">
                <a:latin typeface="Arial" panose="020B0604020202020204" pitchFamily="34" charset="0"/>
                <a:cs typeface="Arial" panose="020B0604020202020204" pitchFamily="34" charset="0"/>
              </a:rPr>
              <a:t>Supplemental Figure 23. General Mycoses ICD Code Mapping: Best Match Forward Sankey Network</a:t>
            </a:r>
          </a:p>
          <a:p>
            <a:r>
              <a:rPr lang="en-US" sz="1000" dirty="0">
                <a:latin typeface="Arial" panose="020B0604020202020204" pitchFamily="34" charset="0"/>
                <a:cs typeface="Arial" panose="020B0604020202020204" pitchFamily="34" charset="0"/>
              </a:rPr>
              <a:t>Nodes represent individual ICD codes across versions (ICD-9, -10, -11), connected by links indicating mapping pairs with the highest match score, with ties. Primary mapping utilized a stepwise strategy requiring a minimum cumulative match score of 45 out of 100 points. To capture complex relationships, a “skip-link” strategy was employed for pairs that either failed the initial threshold or exceed the stepwise score by ≥ 10 points. Codes with unlinked nodes (“Orphan” codes) represent version-specific entries that did not meet the minimum match criteria in either strategy and are indicated by a pink node with text indicating the ICD version(s) to which it is unique. Light Blue Nodes: ICD-9, Dark Blue Nodes: ICD-10, and Yellow Nodes: ICD-11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FA525A49-9859-1823-6FC9-75BE0B57A165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2085" b="2334"/>
          <a:stretch>
            <a:fillRect/>
          </a:stretch>
        </p:blipFill>
        <p:spPr>
          <a:xfrm>
            <a:off x="0" y="507192"/>
            <a:ext cx="10058400" cy="61529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8451734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F3B458-F20D-B47C-5806-DF39A7D51B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TextBox 18">
            <a:extLst>
              <a:ext uri="{FF2B5EF4-FFF2-40B4-BE49-F238E27FC236}">
                <a16:creationId xmlns:a16="http://schemas.microsoft.com/office/drawing/2014/main" id="{0CB99FCA-DF3B-B128-AA14-818125070BD1}"/>
              </a:ext>
            </a:extLst>
          </p:cNvPr>
          <p:cNvSpPr txBox="1"/>
          <p:nvPr/>
        </p:nvSpPr>
        <p:spPr>
          <a:xfrm>
            <a:off x="0" y="176795"/>
            <a:ext cx="612668" cy="25359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48" b="1" dirty="0">
                <a:latin typeface="Arial" panose="020B0604020202020204" pitchFamily="34" charset="0"/>
                <a:cs typeface="Arial" panose="020B0604020202020204" pitchFamily="34" charset="0"/>
              </a:rPr>
              <a:t>ICD-11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A37807B4-B4B7-E473-C8C1-1F90CC782DBD}"/>
              </a:ext>
            </a:extLst>
          </p:cNvPr>
          <p:cNvSpPr txBox="1"/>
          <p:nvPr/>
        </p:nvSpPr>
        <p:spPr>
          <a:xfrm>
            <a:off x="3300836" y="185500"/>
            <a:ext cx="612668" cy="25359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48" b="1" dirty="0">
                <a:latin typeface="Arial" panose="020B0604020202020204" pitchFamily="34" charset="0"/>
                <a:cs typeface="Arial" panose="020B0604020202020204" pitchFamily="34" charset="0"/>
              </a:rPr>
              <a:t>ICD-10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DB416CEC-06D5-9C66-E9A8-1A93215B839E}"/>
              </a:ext>
            </a:extLst>
          </p:cNvPr>
          <p:cNvSpPr txBox="1"/>
          <p:nvPr/>
        </p:nvSpPr>
        <p:spPr>
          <a:xfrm>
            <a:off x="6646191" y="176795"/>
            <a:ext cx="537327" cy="25359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48" b="1" dirty="0">
                <a:latin typeface="Arial" panose="020B0604020202020204" pitchFamily="34" charset="0"/>
                <a:cs typeface="Arial" panose="020B0604020202020204" pitchFamily="34" charset="0"/>
              </a:rPr>
              <a:t>ICD-9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90617EDB-5181-11BF-EC6D-902077880ABF}"/>
              </a:ext>
            </a:extLst>
          </p:cNvPr>
          <p:cNvSpPr txBox="1"/>
          <p:nvPr/>
        </p:nvSpPr>
        <p:spPr>
          <a:xfrm>
            <a:off x="3633625" y="0"/>
            <a:ext cx="3164649" cy="25359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48" b="1" dirty="0">
                <a:latin typeface="Arial" panose="020B0604020202020204" pitchFamily="34" charset="0"/>
                <a:cs typeface="Arial" panose="020B0604020202020204" pitchFamily="34" charset="0"/>
              </a:rPr>
              <a:t>Reverse Mapping General Mycoses ICD Codes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36AD773-39A0-84D4-FB94-2D250CF6889D}"/>
              </a:ext>
            </a:extLst>
          </p:cNvPr>
          <p:cNvSpPr txBox="1"/>
          <p:nvPr/>
        </p:nvSpPr>
        <p:spPr>
          <a:xfrm>
            <a:off x="0" y="6766081"/>
            <a:ext cx="10058401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b="1" dirty="0">
                <a:latin typeface="Arial" panose="020B0604020202020204" pitchFamily="34" charset="0"/>
                <a:cs typeface="Arial" panose="020B0604020202020204" pitchFamily="34" charset="0"/>
              </a:rPr>
              <a:t>Supplemental Figure 24. General Mycoses ICD Code Mapping: Best Match Reverse Sankey Network</a:t>
            </a:r>
          </a:p>
          <a:p>
            <a:r>
              <a:rPr lang="en-US" sz="1000" dirty="0">
                <a:latin typeface="Arial" panose="020B0604020202020204" pitchFamily="34" charset="0"/>
                <a:cs typeface="Arial" panose="020B0604020202020204" pitchFamily="34" charset="0"/>
              </a:rPr>
              <a:t>Nodes represent individual ICD codes across versions (ICD-11, -10, -9), connected by links indicating mapping pairs with the highest match score, with ties. Primary mapping utilized a stepwise strategy requiring a minimum cumulative match score of 45 out of 100 points. To capture complex relationships, a “skip-link” strategy was employed for pairs that either failed the initial threshold or exceed the stepwise score by ≥ 10 points. Codes with unlinked nodes (“Orphan” codes) represent version-specific entries that did not meet the minimum match criteria in either strategy and are indicated by a pink node with text indicating the ICD version(s) to which it is unique. Light Blue Nodes: ICD-9, Dark Blue Nodes: ICD-10, and Yellow Nodes: ICD-11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9AFD02EE-A0A6-77A9-B341-672513C9E2D0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2766" b="2361"/>
          <a:stretch>
            <a:fillRect/>
          </a:stretch>
        </p:blipFill>
        <p:spPr>
          <a:xfrm>
            <a:off x="0" y="398152"/>
            <a:ext cx="10058400" cy="63939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3038837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8580</TotalTime>
  <Words>3948</Words>
  <Application>Microsoft Office PowerPoint</Application>
  <PresentationFormat>Custom</PresentationFormat>
  <Paragraphs>144</Paragraphs>
  <Slides>15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9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Montoya, Marhiah</dc:creator>
  <cp:lastModifiedBy>Montoya, Marhiah</cp:lastModifiedBy>
  <cp:revision>13</cp:revision>
  <dcterms:created xsi:type="dcterms:W3CDTF">2026-03-19T17:37:16Z</dcterms:created>
  <dcterms:modified xsi:type="dcterms:W3CDTF">2026-05-08T16:13:02Z</dcterms:modified>
</cp:coreProperties>
</file>