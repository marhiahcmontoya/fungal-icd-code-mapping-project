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  <p:sldId id="258" r:id="rId3"/>
    <p:sldId id="269" r:id="rId4"/>
    <p:sldId id="270" r:id="rId5"/>
    <p:sldId id="260" r:id="rId6"/>
    <p:sldId id="263" r:id="rId7"/>
    <p:sldId id="262" r:id="rId8"/>
    <p:sldId id="261" r:id="rId9"/>
    <p:sldId id="264" r:id="rId10"/>
    <p:sldId id="265" r:id="rId11"/>
    <p:sldId id="266" r:id="rId12"/>
    <p:sldId id="267" r:id="rId13"/>
    <p:sldId id="272" r:id="rId14"/>
    <p:sldId id="268" r:id="rId15"/>
    <p:sldId id="273" r:id="rId16"/>
  </p:sldIdLst>
  <p:sldSz cx="10058400" cy="7772400"/>
  <p:notesSz cx="9144000" cy="6858000"/>
  <p:defaultTextStyle>
    <a:defPPr>
      <a:defRPr lang="en-US"/>
    </a:defPPr>
    <a:lvl1pPr marL="0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94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732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880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45714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4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8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6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3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51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1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7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7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0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84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4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1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20306-9D22-4C20-AD8B-44777323CD9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5AF98-5551-46A6-88D7-34873018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2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BC6D4241-FA68-0272-2D2E-16DF6A37E400}"/>
              </a:ext>
            </a:extLst>
          </p:cNvPr>
          <p:cNvSpPr txBox="1"/>
          <p:nvPr/>
        </p:nvSpPr>
        <p:spPr>
          <a:xfrm>
            <a:off x="0" y="162830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92A3F-2CE1-5C80-9EF1-AA54454DD4F9}"/>
              </a:ext>
            </a:extLst>
          </p:cNvPr>
          <p:cNvSpPr txBox="1"/>
          <p:nvPr/>
        </p:nvSpPr>
        <p:spPr>
          <a:xfrm>
            <a:off x="3300836" y="171535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38A5B8-E6E6-CBB7-422F-BA3499B900ED}"/>
              </a:ext>
            </a:extLst>
          </p:cNvPr>
          <p:cNvSpPr txBox="1"/>
          <p:nvPr/>
        </p:nvSpPr>
        <p:spPr>
          <a:xfrm>
            <a:off x="6646191" y="162830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CE2D3C-E79B-8610-B345-07E56546430B}"/>
              </a:ext>
            </a:extLst>
          </p:cNvPr>
          <p:cNvSpPr txBox="1"/>
          <p:nvPr/>
        </p:nvSpPr>
        <p:spPr>
          <a:xfrm>
            <a:off x="0" y="2946340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7D121-6E4E-5E35-C837-17F828E66175}"/>
              </a:ext>
            </a:extLst>
          </p:cNvPr>
          <p:cNvSpPr txBox="1"/>
          <p:nvPr/>
        </p:nvSpPr>
        <p:spPr>
          <a:xfrm>
            <a:off x="3300836" y="296033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16068E-E989-BCB8-4005-EAE689C1DE2F}"/>
              </a:ext>
            </a:extLst>
          </p:cNvPr>
          <p:cNvSpPr txBox="1"/>
          <p:nvPr/>
        </p:nvSpPr>
        <p:spPr>
          <a:xfrm>
            <a:off x="6646191" y="296033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1A89EF-37DE-383E-791E-F87DBB48DE86}"/>
              </a:ext>
            </a:extLst>
          </p:cNvPr>
          <p:cNvSpPr txBox="1"/>
          <p:nvPr/>
        </p:nvSpPr>
        <p:spPr>
          <a:xfrm>
            <a:off x="3633625" y="0"/>
            <a:ext cx="2791149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Aspergillus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D0E50C-9D98-744C-3747-517161C6BBFD}"/>
              </a:ext>
            </a:extLst>
          </p:cNvPr>
          <p:cNvSpPr txBox="1"/>
          <p:nvPr/>
        </p:nvSpPr>
        <p:spPr>
          <a:xfrm>
            <a:off x="3607170" y="2798251"/>
            <a:ext cx="2787943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Aspergillus ICD Codes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EFB6C1F5-C851-65D2-D4BC-B3106042B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316"/>
            <a:ext cx="10058400" cy="158922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9C76E98-38C4-B1F8-8E60-7C25384B4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137140"/>
            <a:ext cx="10058400" cy="3822192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5E3D0800-FA44-2A8F-44D7-514BD32E6756}"/>
              </a:ext>
            </a:extLst>
          </p:cNvPr>
          <p:cNvSpPr txBox="1"/>
          <p:nvPr/>
        </p:nvSpPr>
        <p:spPr>
          <a:xfrm>
            <a:off x="0" y="1862717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1. Aspergillus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EB94582-B208-6428-2981-910785C23742}"/>
              </a:ext>
            </a:extLst>
          </p:cNvPr>
          <p:cNvSpPr txBox="1"/>
          <p:nvPr/>
        </p:nvSpPr>
        <p:spPr>
          <a:xfrm>
            <a:off x="-28060" y="6797252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2. Aspergillus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335391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5AF0-1F9F-AB48-3233-A2A55DCF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72C0BC8-AED6-A4E1-24A8-5AB331FEA864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F47A37-40B2-9C55-D937-8F8D3BAD7BC7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AFDE2-40E5-6C45-7677-3132A42CFC39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E2E2A8-C993-054D-D560-E697E7BF32A9}"/>
              </a:ext>
            </a:extLst>
          </p:cNvPr>
          <p:cNvSpPr txBox="1"/>
          <p:nvPr/>
        </p:nvSpPr>
        <p:spPr>
          <a:xfrm>
            <a:off x="-1" y="4844212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5CC19F-7763-6972-CB27-1A73D4073EE1}"/>
              </a:ext>
            </a:extLst>
          </p:cNvPr>
          <p:cNvSpPr txBox="1"/>
          <p:nvPr/>
        </p:nvSpPr>
        <p:spPr>
          <a:xfrm>
            <a:off x="3300835" y="4858203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4A9478-9738-9741-A12D-DE35AE22775B}"/>
              </a:ext>
            </a:extLst>
          </p:cNvPr>
          <p:cNvSpPr txBox="1"/>
          <p:nvPr/>
        </p:nvSpPr>
        <p:spPr>
          <a:xfrm>
            <a:off x="6646190" y="4858203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7A7029-F4F2-B318-A522-712EA36FC74E}"/>
              </a:ext>
            </a:extLst>
          </p:cNvPr>
          <p:cNvSpPr txBox="1"/>
          <p:nvPr/>
        </p:nvSpPr>
        <p:spPr>
          <a:xfrm>
            <a:off x="3633625" y="0"/>
            <a:ext cx="289213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Blastomyces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4399A5-CEC9-5E47-2ABA-6625FFBA08F6}"/>
              </a:ext>
            </a:extLst>
          </p:cNvPr>
          <p:cNvSpPr txBox="1"/>
          <p:nvPr/>
        </p:nvSpPr>
        <p:spPr>
          <a:xfrm>
            <a:off x="3607169" y="4590616"/>
            <a:ext cx="2888932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Blastomyces ICD Codes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AED2D6-276B-E474-C998-7FF5A01D8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487"/>
            <a:ext cx="10058400" cy="17099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AF8A3A-1558-415C-DE86-C9FAF86BF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033800"/>
            <a:ext cx="10058400" cy="170992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3C7B1B1-16BA-1BF7-D629-FC23B0C6B123}"/>
              </a:ext>
            </a:extLst>
          </p:cNvPr>
          <p:cNvSpPr txBox="1"/>
          <p:nvPr/>
        </p:nvSpPr>
        <p:spPr>
          <a:xfrm>
            <a:off x="-1" y="2166122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3. Blastomyces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BDA921-0445-1197-5347-1CCDBCC1FE69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4. Blastomyces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177677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DD3C-74C2-CE26-0F20-AE5A4213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9AA07A7-E8E0-22CF-3C17-5EEBCE7F494E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5B1B57-7123-82CC-1E1E-37A93F516F2E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B5F5E3-FDE3-63B1-BE73-A0AD83786679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303645-09F1-5DE0-8F02-6906A0110631}"/>
              </a:ext>
            </a:extLst>
          </p:cNvPr>
          <p:cNvSpPr txBox="1"/>
          <p:nvPr/>
        </p:nvSpPr>
        <p:spPr>
          <a:xfrm>
            <a:off x="3633625" y="0"/>
            <a:ext cx="2589170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Candida ICD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BC88C9-9EF6-466C-FC90-B23B9DBA4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192"/>
            <a:ext cx="10058400" cy="3621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539F8D-EF17-5841-2C2C-9FAD451E01E9}"/>
              </a:ext>
            </a:extLst>
          </p:cNvPr>
          <p:cNvSpPr txBox="1"/>
          <p:nvPr/>
        </p:nvSpPr>
        <p:spPr>
          <a:xfrm>
            <a:off x="-1" y="413692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5. Candida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174925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35B5-F2BE-A08A-5313-139E8F62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7858A3A-914E-4837-EB25-A51073B26D7B}"/>
              </a:ext>
            </a:extLst>
          </p:cNvPr>
          <p:cNvSpPr txBox="1"/>
          <p:nvPr/>
        </p:nvSpPr>
        <p:spPr>
          <a:xfrm>
            <a:off x="0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C39CCA-24FA-EFED-EFB3-ACBA1EE22EED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8F7579-5347-B375-193E-57114E77CE80}"/>
              </a:ext>
            </a:extLst>
          </p:cNvPr>
          <p:cNvSpPr txBox="1"/>
          <p:nvPr/>
        </p:nvSpPr>
        <p:spPr>
          <a:xfrm>
            <a:off x="6646191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B58F53-869B-58B9-6B35-62B217F644B5}"/>
              </a:ext>
            </a:extLst>
          </p:cNvPr>
          <p:cNvSpPr txBox="1"/>
          <p:nvPr/>
        </p:nvSpPr>
        <p:spPr>
          <a:xfrm>
            <a:off x="3633625" y="0"/>
            <a:ext cx="2585964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Candida ICD Codes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3B7D8-6CE8-8900-0167-3BC6E97D1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487"/>
            <a:ext cx="10058400" cy="502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3AC6F1-885C-8186-00B0-813DFE7AC388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6. Candida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283184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EDEF-0121-D93F-78B7-55A632974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6E1FB04-145D-7DED-42FD-3F9F7C6777D8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527753-F196-DB08-EF76-CBBAA79E979B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E2B363-92B5-988C-F86F-BA4365C6757B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E4F670-1D1F-299B-9702-1E4EAF15B7D4}"/>
              </a:ext>
            </a:extLst>
          </p:cNvPr>
          <p:cNvSpPr txBox="1"/>
          <p:nvPr/>
        </p:nvSpPr>
        <p:spPr>
          <a:xfrm>
            <a:off x="0" y="4177255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BA377D-968E-0E30-8646-22F967C2016D}"/>
              </a:ext>
            </a:extLst>
          </p:cNvPr>
          <p:cNvSpPr txBox="1"/>
          <p:nvPr/>
        </p:nvSpPr>
        <p:spPr>
          <a:xfrm>
            <a:off x="3300836" y="419124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EC1D7E-F360-A91D-B566-A07569086AB4}"/>
              </a:ext>
            </a:extLst>
          </p:cNvPr>
          <p:cNvSpPr txBox="1"/>
          <p:nvPr/>
        </p:nvSpPr>
        <p:spPr>
          <a:xfrm>
            <a:off x="6646191" y="4191246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176771-E4D0-1462-B475-26A77AD89183}"/>
              </a:ext>
            </a:extLst>
          </p:cNvPr>
          <p:cNvSpPr txBox="1"/>
          <p:nvPr/>
        </p:nvSpPr>
        <p:spPr>
          <a:xfrm>
            <a:off x="3633625" y="0"/>
            <a:ext cx="2895344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Coccidioides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95E6D2-AF98-FBA4-A11E-301DBF7C09DF}"/>
              </a:ext>
            </a:extLst>
          </p:cNvPr>
          <p:cNvSpPr txBox="1"/>
          <p:nvPr/>
        </p:nvSpPr>
        <p:spPr>
          <a:xfrm>
            <a:off x="3607170" y="3923659"/>
            <a:ext cx="289213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Coccidioides ICD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2DCA4-494C-FC36-C7F3-DA3F38E5D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862"/>
            <a:ext cx="10058400" cy="2212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698801-5454-3E0D-0E60-93322FDB8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66843"/>
            <a:ext cx="10058400" cy="2514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9282B6C-AFEC-41B3-2A33-9C92B084E28D}"/>
              </a:ext>
            </a:extLst>
          </p:cNvPr>
          <p:cNvSpPr txBox="1"/>
          <p:nvPr/>
        </p:nvSpPr>
        <p:spPr>
          <a:xfrm>
            <a:off x="0" y="253021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7. Coccidioides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645297-9463-730A-8810-C0F581FFAE77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8. Coccidioides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235596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057F1-2D89-EF1F-4A25-B27BE860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C716192-2E42-20BF-B0FD-26E835FCD7AB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86513B-DFE6-5300-E690-FC25B036BCE9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666B42-3169-2235-BF99-6DAE81728F72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9E86B8-3F21-A82E-90D3-087174BE1FBF}"/>
              </a:ext>
            </a:extLst>
          </p:cNvPr>
          <p:cNvSpPr txBox="1"/>
          <p:nvPr/>
        </p:nvSpPr>
        <p:spPr>
          <a:xfrm>
            <a:off x="-1" y="4659832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04E0C1-B214-2152-509F-B528B4B19654}"/>
              </a:ext>
            </a:extLst>
          </p:cNvPr>
          <p:cNvSpPr txBox="1"/>
          <p:nvPr/>
        </p:nvSpPr>
        <p:spPr>
          <a:xfrm>
            <a:off x="3300835" y="4673823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B7937-4D1C-3344-A996-958750A34FB8}"/>
              </a:ext>
            </a:extLst>
          </p:cNvPr>
          <p:cNvSpPr txBox="1"/>
          <p:nvPr/>
        </p:nvSpPr>
        <p:spPr>
          <a:xfrm>
            <a:off x="6646190" y="4673823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CE2CB6-CA63-FB11-F03D-CFC185986711}"/>
              </a:ext>
            </a:extLst>
          </p:cNvPr>
          <p:cNvSpPr txBox="1"/>
          <p:nvPr/>
        </p:nvSpPr>
        <p:spPr>
          <a:xfrm>
            <a:off x="3633625" y="0"/>
            <a:ext cx="2957861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Cryptococcus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1E887F-FA29-3AE5-9F25-6B9A6FAEA684}"/>
              </a:ext>
            </a:extLst>
          </p:cNvPr>
          <p:cNvSpPr txBox="1"/>
          <p:nvPr/>
        </p:nvSpPr>
        <p:spPr>
          <a:xfrm>
            <a:off x="3607169" y="4406236"/>
            <a:ext cx="2954655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Cryptococcus ICD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53F5D6-13C0-73F9-ED76-B09A258F7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487"/>
            <a:ext cx="10058400" cy="16294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BFF060-DF01-0346-D32A-513E54968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849420"/>
            <a:ext cx="10058400" cy="191109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03446510-7B3B-C225-C05C-3041EF8B3F0C}"/>
              </a:ext>
            </a:extLst>
          </p:cNvPr>
          <p:cNvSpPr txBox="1"/>
          <p:nvPr/>
        </p:nvSpPr>
        <p:spPr>
          <a:xfrm>
            <a:off x="-1" y="2166122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9. Cryptococcus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6487FE-D707-F019-93E4-524407C041FE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10. Cryptococcus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98735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106E-10F5-91AD-41B6-028C3F1E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B2C0A76-A3D6-B6B6-EA10-B63B29E439E1}"/>
              </a:ext>
            </a:extLst>
          </p:cNvPr>
          <p:cNvSpPr txBox="1"/>
          <p:nvPr/>
        </p:nvSpPr>
        <p:spPr>
          <a:xfrm>
            <a:off x="0" y="118427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748E3C-1127-B1C3-77DB-46F013E64C91}"/>
              </a:ext>
            </a:extLst>
          </p:cNvPr>
          <p:cNvSpPr txBox="1"/>
          <p:nvPr/>
        </p:nvSpPr>
        <p:spPr>
          <a:xfrm>
            <a:off x="3698871" y="127132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CC885A-8219-A3EA-FFF0-322D6D622AFD}"/>
              </a:ext>
            </a:extLst>
          </p:cNvPr>
          <p:cNvSpPr txBox="1"/>
          <p:nvPr/>
        </p:nvSpPr>
        <p:spPr>
          <a:xfrm>
            <a:off x="7420747" y="118427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5CDC4C-FA5E-7979-F544-D43246E658EA}"/>
              </a:ext>
            </a:extLst>
          </p:cNvPr>
          <p:cNvSpPr txBox="1"/>
          <p:nvPr/>
        </p:nvSpPr>
        <p:spPr>
          <a:xfrm>
            <a:off x="-1" y="5039968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673583-0E7F-3F19-DCA0-E7ACF903E572}"/>
              </a:ext>
            </a:extLst>
          </p:cNvPr>
          <p:cNvSpPr txBox="1"/>
          <p:nvPr/>
        </p:nvSpPr>
        <p:spPr>
          <a:xfrm>
            <a:off x="3061686" y="5053959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861647-FFF0-33BE-4CB3-C1D94B91390D}"/>
              </a:ext>
            </a:extLst>
          </p:cNvPr>
          <p:cNvSpPr txBox="1"/>
          <p:nvPr/>
        </p:nvSpPr>
        <p:spPr>
          <a:xfrm>
            <a:off x="6153821" y="5053959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7426C3-146F-7603-BB81-FDC4DD7AA3BB}"/>
              </a:ext>
            </a:extLst>
          </p:cNvPr>
          <p:cNvSpPr txBox="1"/>
          <p:nvPr/>
        </p:nvSpPr>
        <p:spPr>
          <a:xfrm>
            <a:off x="3633625" y="0"/>
            <a:ext cx="286007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Histoplasma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8C849D-FDCB-69A0-39B9-39189FDBE3B3}"/>
              </a:ext>
            </a:extLst>
          </p:cNvPr>
          <p:cNvSpPr txBox="1"/>
          <p:nvPr/>
        </p:nvSpPr>
        <p:spPr>
          <a:xfrm>
            <a:off x="3607169" y="4903108"/>
            <a:ext cx="2856872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Histoplasma ICD Codes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7DDAB2-B602-6645-7F38-A7A5EABEF0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86" b="3833"/>
          <a:stretch>
            <a:fillRect/>
          </a:stretch>
        </p:blipFill>
        <p:spPr>
          <a:xfrm>
            <a:off x="-3" y="313230"/>
            <a:ext cx="10058400" cy="37396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0EC253-5D36-18FA-A1EB-9356F900DD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64" b="9958"/>
          <a:stretch>
            <a:fillRect/>
          </a:stretch>
        </p:blipFill>
        <p:spPr>
          <a:xfrm>
            <a:off x="-1" y="5285749"/>
            <a:ext cx="10058400" cy="14803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6FE6E35-8786-28CB-6421-EDF9286E80BF}"/>
              </a:ext>
            </a:extLst>
          </p:cNvPr>
          <p:cNvSpPr txBox="1"/>
          <p:nvPr/>
        </p:nvSpPr>
        <p:spPr>
          <a:xfrm>
            <a:off x="-2" y="4024305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11. Histoplasma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B3BC38-4713-A7E1-AFC8-BB1F45097BC5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12. Histoplasma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191217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4BEB6-EC03-33B0-7DD8-097F5C7F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51FECC0-47D7-02D3-FECF-6CD18BF30197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6EE6DC-3E01-967B-2261-3B7CC1F4A04F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501A4D-CDF6-984A-DD36-65C3735E03C5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965322-E7C5-6F3A-7322-E9A2253552CF}"/>
              </a:ext>
            </a:extLst>
          </p:cNvPr>
          <p:cNvSpPr txBox="1"/>
          <p:nvPr/>
        </p:nvSpPr>
        <p:spPr>
          <a:xfrm>
            <a:off x="-1" y="466261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826BFD-EC13-8F6A-A460-DDFEFE574C70}"/>
              </a:ext>
            </a:extLst>
          </p:cNvPr>
          <p:cNvSpPr txBox="1"/>
          <p:nvPr/>
        </p:nvSpPr>
        <p:spPr>
          <a:xfrm>
            <a:off x="3300835" y="4676607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0B30B4-5B03-DDD9-9F07-8907CD150D91}"/>
              </a:ext>
            </a:extLst>
          </p:cNvPr>
          <p:cNvSpPr txBox="1"/>
          <p:nvPr/>
        </p:nvSpPr>
        <p:spPr>
          <a:xfrm>
            <a:off x="6646190" y="4676607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081596-452E-C16A-C1DF-6FEB7F53B49A}"/>
              </a:ext>
            </a:extLst>
          </p:cNvPr>
          <p:cNvSpPr txBox="1"/>
          <p:nvPr/>
        </p:nvSpPr>
        <p:spPr>
          <a:xfrm>
            <a:off x="3633625" y="0"/>
            <a:ext cx="2725426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Mucorales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E1A2C1-4554-F12B-A4A8-858DCAD724B6}"/>
              </a:ext>
            </a:extLst>
          </p:cNvPr>
          <p:cNvSpPr txBox="1"/>
          <p:nvPr/>
        </p:nvSpPr>
        <p:spPr>
          <a:xfrm>
            <a:off x="3607169" y="4409020"/>
            <a:ext cx="2722220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Mucorales ICD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9185F4-7FE5-FB77-C187-AC0201683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8629"/>
            <a:ext cx="10058400" cy="17099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8F8893-AFB8-3741-3176-975F762EA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922041"/>
            <a:ext cx="10058400" cy="18440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B4D355C-0348-51EF-7036-98784A2D1DE6}"/>
              </a:ext>
            </a:extLst>
          </p:cNvPr>
          <p:cNvSpPr txBox="1"/>
          <p:nvPr/>
        </p:nvSpPr>
        <p:spPr>
          <a:xfrm>
            <a:off x="-1" y="2166122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13. Mucorales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E55A68-6F6F-F38E-74E3-D9611B95B821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14. Mucorales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95697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17165-E416-0E8A-48EF-9BCD9DDA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58C7EC4-0E32-172A-A44A-C947D1EFD323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C86E98-E6C6-4623-DEEB-5ECAFC231381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8811E3-CBD1-73B9-845F-E6328043D640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261785-FC0B-B209-5563-208F0BDDA135}"/>
              </a:ext>
            </a:extLst>
          </p:cNvPr>
          <p:cNvSpPr txBox="1"/>
          <p:nvPr/>
        </p:nvSpPr>
        <p:spPr>
          <a:xfrm>
            <a:off x="0" y="530591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98E5CE-DF2C-7603-6A5F-03265D1A1E16}"/>
              </a:ext>
            </a:extLst>
          </p:cNvPr>
          <p:cNvSpPr txBox="1"/>
          <p:nvPr/>
        </p:nvSpPr>
        <p:spPr>
          <a:xfrm>
            <a:off x="3300836" y="5319902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F34233-401C-F658-9C4E-B7BCAEF28486}"/>
              </a:ext>
            </a:extLst>
          </p:cNvPr>
          <p:cNvSpPr txBox="1"/>
          <p:nvPr/>
        </p:nvSpPr>
        <p:spPr>
          <a:xfrm>
            <a:off x="6646191" y="5319902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5F595F-45E4-8664-A16D-A4D20C09DF59}"/>
              </a:ext>
            </a:extLst>
          </p:cNvPr>
          <p:cNvSpPr txBox="1"/>
          <p:nvPr/>
        </p:nvSpPr>
        <p:spPr>
          <a:xfrm>
            <a:off x="3633625" y="0"/>
            <a:ext cx="3166251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Paracoccidioides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A2649A-780D-AF46-FC13-B052212CB459}"/>
              </a:ext>
            </a:extLst>
          </p:cNvPr>
          <p:cNvSpPr txBox="1"/>
          <p:nvPr/>
        </p:nvSpPr>
        <p:spPr>
          <a:xfrm>
            <a:off x="3607170" y="5052315"/>
            <a:ext cx="3163045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Paracoccidioides ICD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2EB65-D45F-2555-6228-2118FA8F0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87" y="498487"/>
            <a:ext cx="10058400" cy="11265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66B41C-6FBF-2145-0FF8-C31E15874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87" y="5498806"/>
            <a:ext cx="10058400" cy="130759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7E218B-8500-3C29-DEEE-731854A84592}"/>
              </a:ext>
            </a:extLst>
          </p:cNvPr>
          <p:cNvSpPr txBox="1"/>
          <p:nvPr/>
        </p:nvSpPr>
        <p:spPr>
          <a:xfrm>
            <a:off x="0" y="1619798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15. Paracoccidioides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A47592-069A-73FD-55A0-DF143F03E1D4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16. Paracoccidioides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155370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D7C1-40A3-4A1F-DD83-2154E413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AC6CB30-A050-3999-5ACB-EC8223D99C2E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9D80B1-0218-E62A-945F-DCA5FE243BC3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26454B-FB4C-3B4A-A89A-185F307F4A01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974F64-DF4A-78C8-3C60-7F157CEBD1DB}"/>
              </a:ext>
            </a:extLst>
          </p:cNvPr>
          <p:cNvSpPr txBox="1"/>
          <p:nvPr/>
        </p:nvSpPr>
        <p:spPr>
          <a:xfrm>
            <a:off x="0" y="4564813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FC585-263E-3826-273F-2B52B9C56D9F}"/>
              </a:ext>
            </a:extLst>
          </p:cNvPr>
          <p:cNvSpPr txBox="1"/>
          <p:nvPr/>
        </p:nvSpPr>
        <p:spPr>
          <a:xfrm>
            <a:off x="3300836" y="4564813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065E16-5A14-7D52-CB49-7CAF21B087E2}"/>
              </a:ext>
            </a:extLst>
          </p:cNvPr>
          <p:cNvSpPr txBox="1"/>
          <p:nvPr/>
        </p:nvSpPr>
        <p:spPr>
          <a:xfrm>
            <a:off x="6646191" y="4564813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BCCCDD-13C8-78BF-240B-AB6B3DB516BD}"/>
              </a:ext>
            </a:extLst>
          </p:cNvPr>
          <p:cNvSpPr txBox="1"/>
          <p:nvPr/>
        </p:nvSpPr>
        <p:spPr>
          <a:xfrm>
            <a:off x="3633625" y="0"/>
            <a:ext cx="2738250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</a:t>
            </a:r>
            <a:r>
              <a:rPr lang="en-US" sz="1048" b="1" dirty="0" err="1">
                <a:latin typeface="Arial" panose="020B0604020202020204" pitchFamily="34" charset="0"/>
                <a:cs typeface="Arial" panose="020B0604020202020204" pitchFamily="34" charset="0"/>
              </a:rPr>
              <a:t>Sporothrix</a:t>
            </a:r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C97828-1AB2-CDDC-0C5E-4812C69385DA}"/>
              </a:ext>
            </a:extLst>
          </p:cNvPr>
          <p:cNvSpPr txBox="1"/>
          <p:nvPr/>
        </p:nvSpPr>
        <p:spPr>
          <a:xfrm>
            <a:off x="3607170" y="4311217"/>
            <a:ext cx="2735044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</a:t>
            </a:r>
            <a:r>
              <a:rPr lang="en-US" sz="1048" b="1" dirty="0" err="1">
                <a:latin typeface="Arial" panose="020B0604020202020204" pitchFamily="34" charset="0"/>
                <a:cs typeface="Arial" panose="020B0604020202020204" pitchFamily="34" charset="0"/>
              </a:rPr>
              <a:t>Sporothrix</a:t>
            </a:r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 ICD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6EBC03-825C-1E32-2732-B9E0BB7A7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487"/>
            <a:ext cx="10058400" cy="16428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8203D8-44E2-1F56-F71B-79C0EF38D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54401"/>
            <a:ext cx="10058400" cy="201168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174985E-BB2B-6C02-23E1-B3C0FAA67998}"/>
              </a:ext>
            </a:extLst>
          </p:cNvPr>
          <p:cNvSpPr txBox="1"/>
          <p:nvPr/>
        </p:nvSpPr>
        <p:spPr>
          <a:xfrm>
            <a:off x="-1" y="2141359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17.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Sporothrix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26262-0743-5847-59C1-083725285F78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18.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Sporothrix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178415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200F-A646-A8BC-8FEA-EF99DFD3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EE371D2-43E4-9CB0-5B6E-C5EC3FD0BB71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6112DC-A6C1-4686-C9EE-E840A089A037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910FCB-ED79-5550-F8B9-C4F4A14DD012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91A8FC-A57E-972C-B678-04820E04F964}"/>
              </a:ext>
            </a:extLst>
          </p:cNvPr>
          <p:cNvSpPr txBox="1"/>
          <p:nvPr/>
        </p:nvSpPr>
        <p:spPr>
          <a:xfrm>
            <a:off x="0" y="3696612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077543-47FD-5562-3A20-314DF5677560}"/>
              </a:ext>
            </a:extLst>
          </p:cNvPr>
          <p:cNvSpPr txBox="1"/>
          <p:nvPr/>
        </p:nvSpPr>
        <p:spPr>
          <a:xfrm>
            <a:off x="3300836" y="3710603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C0560B-0EBF-5134-084A-FBE1BE9FBD1F}"/>
              </a:ext>
            </a:extLst>
          </p:cNvPr>
          <p:cNvSpPr txBox="1"/>
          <p:nvPr/>
        </p:nvSpPr>
        <p:spPr>
          <a:xfrm>
            <a:off x="6646191" y="3710603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C68CE6-4B72-89BA-A06E-1DAA7A7F16CF}"/>
              </a:ext>
            </a:extLst>
          </p:cNvPr>
          <p:cNvSpPr txBox="1"/>
          <p:nvPr/>
        </p:nvSpPr>
        <p:spPr>
          <a:xfrm>
            <a:off x="3633625" y="0"/>
            <a:ext cx="4107215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Other Fungus-Specific Mycoses ICD 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C388A9-D605-9EB2-8E15-46B93F556C2D}"/>
              </a:ext>
            </a:extLst>
          </p:cNvPr>
          <p:cNvSpPr txBox="1"/>
          <p:nvPr/>
        </p:nvSpPr>
        <p:spPr>
          <a:xfrm>
            <a:off x="3607170" y="3443016"/>
            <a:ext cx="4104009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Other Fungus-Specific Mycoses ICD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5707DE-8DBA-95A3-201A-252D4886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487"/>
            <a:ext cx="10058400" cy="1207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262C4F-2B46-B7FC-F648-AB7FF5084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6200"/>
            <a:ext cx="10058400" cy="25481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02EEFA-9FEF-03F2-E4AA-E624D734D281}"/>
              </a:ext>
            </a:extLst>
          </p:cNvPr>
          <p:cNvSpPr txBox="1"/>
          <p:nvPr/>
        </p:nvSpPr>
        <p:spPr>
          <a:xfrm>
            <a:off x="-1" y="2166122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19. Other Fungus-specific Mycoses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383F3-1F42-4037-9A21-A86DECA3F61B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20. Other Fungus-specific Mycoses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812298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121E-891C-6BAF-F77D-D111DC373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108C08B-1106-6C2D-DCB2-225F8C89365A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F051C4-B8F2-9A2A-A57C-17807DB50C63}"/>
              </a:ext>
            </a:extLst>
          </p:cNvPr>
          <p:cNvSpPr txBox="1"/>
          <p:nvPr/>
        </p:nvSpPr>
        <p:spPr>
          <a:xfrm>
            <a:off x="3355154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AE27CE-CD67-390B-B5CD-F7BB02D9C843}"/>
              </a:ext>
            </a:extLst>
          </p:cNvPr>
          <p:cNvSpPr txBox="1"/>
          <p:nvPr/>
        </p:nvSpPr>
        <p:spPr>
          <a:xfrm>
            <a:off x="673672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D4B1E0-8B08-12BF-12E3-6C88FC3F79CB}"/>
              </a:ext>
            </a:extLst>
          </p:cNvPr>
          <p:cNvSpPr txBox="1"/>
          <p:nvPr/>
        </p:nvSpPr>
        <p:spPr>
          <a:xfrm>
            <a:off x="3633625" y="0"/>
            <a:ext cx="318548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Dermatomycoses ICD Codes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059042-6B7A-6CEE-064F-A0F869B5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192"/>
            <a:ext cx="10058400" cy="39563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729A93-9513-E349-1F1C-0364943D692D}"/>
              </a:ext>
            </a:extLst>
          </p:cNvPr>
          <p:cNvSpPr txBox="1"/>
          <p:nvPr/>
        </p:nvSpPr>
        <p:spPr>
          <a:xfrm>
            <a:off x="0" y="447220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21. Dermatomycoses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2918628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8943-69F2-0F44-9F92-FD5999F0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A97A261-38CF-50C2-4D03-4664AB45FD7F}"/>
              </a:ext>
            </a:extLst>
          </p:cNvPr>
          <p:cNvSpPr txBox="1"/>
          <p:nvPr/>
        </p:nvSpPr>
        <p:spPr>
          <a:xfrm>
            <a:off x="0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1FB5E8-CA8A-92C0-2C06-935BFBAE3CA0}"/>
              </a:ext>
            </a:extLst>
          </p:cNvPr>
          <p:cNvSpPr txBox="1"/>
          <p:nvPr/>
        </p:nvSpPr>
        <p:spPr>
          <a:xfrm>
            <a:off x="3355154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F27290-1A75-A80D-5B8E-7A2C25B4C5D9}"/>
              </a:ext>
            </a:extLst>
          </p:cNvPr>
          <p:cNvSpPr txBox="1"/>
          <p:nvPr/>
        </p:nvSpPr>
        <p:spPr>
          <a:xfrm>
            <a:off x="6736721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1ECA39-BCA6-AEA7-CABB-17E00CFD8C5B}"/>
              </a:ext>
            </a:extLst>
          </p:cNvPr>
          <p:cNvSpPr txBox="1"/>
          <p:nvPr/>
        </p:nvSpPr>
        <p:spPr>
          <a:xfrm>
            <a:off x="3633625" y="0"/>
            <a:ext cx="3182281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Dermatomycoses ICD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9A530F-9404-BDFE-28A0-7A7852822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192"/>
            <a:ext cx="10058400" cy="590092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5F83BC9-D318-FEFF-79C0-FBCEB8755837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22. Dermatomycoses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</p:spTree>
    <p:extLst>
      <p:ext uri="{BB962C8B-B14F-4D97-AF65-F5344CB8AC3E}">
        <p14:creationId xmlns:p14="http://schemas.microsoft.com/office/powerpoint/2010/main" val="1859927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BAD3-6089-0638-F928-A698313D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F308841-0744-0945-D60B-0FB25B670353}"/>
              </a:ext>
            </a:extLst>
          </p:cNvPr>
          <p:cNvSpPr txBox="1"/>
          <p:nvPr/>
        </p:nvSpPr>
        <p:spPr>
          <a:xfrm>
            <a:off x="0" y="244891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6602C0-B56F-A63B-D015-51F8BF735DF6}"/>
              </a:ext>
            </a:extLst>
          </p:cNvPr>
          <p:cNvSpPr txBox="1"/>
          <p:nvPr/>
        </p:nvSpPr>
        <p:spPr>
          <a:xfrm>
            <a:off x="3300836" y="253596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252BC7-FA69-027E-F780-42FF6C17F043}"/>
              </a:ext>
            </a:extLst>
          </p:cNvPr>
          <p:cNvSpPr txBox="1"/>
          <p:nvPr/>
        </p:nvSpPr>
        <p:spPr>
          <a:xfrm>
            <a:off x="6646191" y="244891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3B04F8-DC2C-5C29-9E9B-550D666A8F2F}"/>
              </a:ext>
            </a:extLst>
          </p:cNvPr>
          <p:cNvSpPr txBox="1"/>
          <p:nvPr/>
        </p:nvSpPr>
        <p:spPr>
          <a:xfrm>
            <a:off x="3633625" y="0"/>
            <a:ext cx="3167855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Forward Mapping General Mycoses ICD Codes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8DDEF-0623-35C8-6612-995D7263A297}"/>
              </a:ext>
            </a:extLst>
          </p:cNvPr>
          <p:cNvSpPr txBox="1"/>
          <p:nvPr/>
        </p:nvSpPr>
        <p:spPr>
          <a:xfrm>
            <a:off x="-1" y="6757376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23. General Mycoses ICD Code Mapping: Best Match Forward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(ICD-9, -10, -11),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F46ED-60F9-66BB-8F65-CD150DB85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7" b="2798"/>
          <a:stretch>
            <a:fillRect/>
          </a:stretch>
        </p:blipFill>
        <p:spPr>
          <a:xfrm>
            <a:off x="0" y="469472"/>
            <a:ext cx="10058400" cy="607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17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B458-F20D-B47C-5806-DF39A7D5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CB99FCA-DF3B-B128-AA14-818125070BD1}"/>
              </a:ext>
            </a:extLst>
          </p:cNvPr>
          <p:cNvSpPr txBox="1"/>
          <p:nvPr/>
        </p:nvSpPr>
        <p:spPr>
          <a:xfrm>
            <a:off x="0" y="176795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7807B4-B4B7-E473-C8C1-1F90CC782DBD}"/>
              </a:ext>
            </a:extLst>
          </p:cNvPr>
          <p:cNvSpPr txBox="1"/>
          <p:nvPr/>
        </p:nvSpPr>
        <p:spPr>
          <a:xfrm>
            <a:off x="3300836" y="185500"/>
            <a:ext cx="612668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416CEC-06D5-9C66-E9A8-1A93215B839E}"/>
              </a:ext>
            </a:extLst>
          </p:cNvPr>
          <p:cNvSpPr txBox="1"/>
          <p:nvPr/>
        </p:nvSpPr>
        <p:spPr>
          <a:xfrm>
            <a:off x="6646191" y="176795"/>
            <a:ext cx="537327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617EDB-5181-11BF-EC6D-902077880ABF}"/>
              </a:ext>
            </a:extLst>
          </p:cNvPr>
          <p:cNvSpPr txBox="1"/>
          <p:nvPr/>
        </p:nvSpPr>
        <p:spPr>
          <a:xfrm>
            <a:off x="3633625" y="0"/>
            <a:ext cx="3164649" cy="253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8" b="1" dirty="0">
                <a:latin typeface="Arial" panose="020B0604020202020204" pitchFamily="34" charset="0"/>
                <a:cs typeface="Arial" panose="020B0604020202020204" pitchFamily="34" charset="0"/>
              </a:rPr>
              <a:t>Reverse Mapping General Mycoses ICD Codes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AD773-39A0-84D4-FB94-2D250CF6889D}"/>
              </a:ext>
            </a:extLst>
          </p:cNvPr>
          <p:cNvSpPr txBox="1"/>
          <p:nvPr/>
        </p:nvSpPr>
        <p:spPr>
          <a:xfrm>
            <a:off x="0" y="6766081"/>
            <a:ext cx="10058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Supplemental Figure 24. General Mycoses ICD Code Mapping: Best Match Reverse Sankey Network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Nodes represent individual ICD codes across versions (ICD-11, -10, -9), connected by links indicating mapping pairs with the highest match score, with ties. Primary mapping utilized a stepwise strategy requiring a minimum cumulative match score of 45 out of 100 points. To capture complex relationships, a “skip-link” strategy was employed for pairs that either failed the initial threshold or exceed the stepwise score by ≥ 10 points. Codes with unlinked nodes (“Orphan” codes) represent version-specific entries that did not meet the minimum match criteria in either strategy and are indicated by a pink node with text indicating the ICD version(s) to which it is unique. Light Blue Nodes: ICD-9, Dark Blue Nodes: ICD-10, and Yellow Nodes: ICD-11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CDF1D-09FE-DE30-D073-B477F37E68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3" b="2627"/>
          <a:stretch>
            <a:fillRect/>
          </a:stretch>
        </p:blipFill>
        <p:spPr>
          <a:xfrm>
            <a:off x="0" y="394535"/>
            <a:ext cx="10058400" cy="638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88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8582</TotalTime>
  <Words>3948</Words>
  <Application>Microsoft Office PowerPoint</Application>
  <PresentationFormat>Custom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Montoya, Marhiah</dc:creator>
  <cp:lastModifiedBy>Montoya, Marhiah</cp:lastModifiedBy>
  <cp:revision>14</cp:revision>
  <dcterms:created xsi:type="dcterms:W3CDTF">2026-03-19T17:37:16Z</dcterms:created>
  <dcterms:modified xsi:type="dcterms:W3CDTF">2026-06-30T17:39:36Z</dcterms:modified>
</cp:coreProperties>
</file>